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4630400" cy="8229600"/>
  <p:notesSz cx="14630400" cy="8229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0" i="0">
                <a:solidFill>
                  <a:srgbClr val="373A47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52576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50" b="0" i="0">
                <a:solidFill>
                  <a:srgbClr val="373A47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52576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50" b="0" i="0">
                <a:solidFill>
                  <a:srgbClr val="373A47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50" b="0" i="0">
                <a:solidFill>
                  <a:srgbClr val="373A47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39192" y="7749540"/>
            <a:ext cx="1722602" cy="4114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3087" y="792645"/>
            <a:ext cx="8324850" cy="520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0" i="0">
                <a:solidFill>
                  <a:srgbClr val="373A47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1886" y="1391539"/>
            <a:ext cx="7656195" cy="28879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52576B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67487" y="3056445"/>
            <a:ext cx="7564755" cy="7035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76220" algn="l"/>
                <a:tab pos="5321300" algn="l"/>
              </a:tabLst>
            </a:pPr>
            <a:r>
              <a:rPr dirty="0" sz="4450" spc="-10"/>
              <a:t>Consumer</a:t>
            </a:r>
            <a:r>
              <a:rPr dirty="0" sz="4450"/>
              <a:t>	</a:t>
            </a:r>
            <a:r>
              <a:rPr dirty="0" sz="4450" spc="-10"/>
              <a:t>Shopping</a:t>
            </a:r>
            <a:r>
              <a:rPr dirty="0" sz="4450"/>
              <a:t>	</a:t>
            </a:r>
            <a:r>
              <a:rPr dirty="0" sz="4450" spc="-10"/>
              <a:t>Behavior</a:t>
            </a:r>
            <a:endParaRPr sz="4450"/>
          </a:p>
        </p:txBody>
      </p:sp>
      <p:sp>
        <p:nvSpPr>
          <p:cNvPr id="4" name="object 4" descr=""/>
          <p:cNvSpPr txBox="1"/>
          <p:nvPr/>
        </p:nvSpPr>
        <p:spPr>
          <a:xfrm>
            <a:off x="6267487" y="4889995"/>
            <a:ext cx="5197475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An</a:t>
            </a:r>
            <a:r>
              <a:rPr dirty="0" sz="17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Analytical</a:t>
            </a:r>
            <a:r>
              <a:rPr dirty="0" sz="17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Project</a:t>
            </a:r>
            <a:r>
              <a:rPr dirty="0" sz="17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for</a:t>
            </a:r>
            <a:r>
              <a:rPr dirty="0" sz="17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Retail</a:t>
            </a:r>
            <a:r>
              <a:rPr dirty="0" sz="17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Strategy</a:t>
            </a:r>
            <a:r>
              <a:rPr dirty="0" sz="17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Optimization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089" y="1871021"/>
            <a:ext cx="7310120" cy="1917700"/>
          </a:xfrm>
          <a:prstGeom prst="rect"/>
        </p:spPr>
        <p:txBody>
          <a:bodyPr wrap="square" lIns="0" tIns="698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2200"/>
              <a:t>EXECUTIVE</a:t>
            </a:r>
            <a:r>
              <a:rPr dirty="0" sz="2200" spc="-65"/>
              <a:t> </a:t>
            </a:r>
            <a:r>
              <a:rPr dirty="0" sz="2200" spc="-10"/>
              <a:t>SUMMARY</a:t>
            </a:r>
            <a:endParaRPr sz="2200"/>
          </a:p>
          <a:p>
            <a:pPr marL="12700" marR="5080">
              <a:lnSpc>
                <a:spcPct val="103899"/>
              </a:lnSpc>
              <a:spcBef>
                <a:spcPts val="710"/>
              </a:spcBef>
              <a:tabLst>
                <a:tab pos="608965" algn="l"/>
                <a:tab pos="2650490" algn="l"/>
                <a:tab pos="3373120" algn="l"/>
                <a:tab pos="4376420" algn="l"/>
                <a:tab pos="5506720" algn="l"/>
              </a:tabLst>
            </a:pPr>
            <a:r>
              <a:rPr dirty="0" sz="4450" spc="-10"/>
              <a:t>Unlocking</a:t>
            </a:r>
            <a:r>
              <a:rPr dirty="0" sz="4450"/>
              <a:t>	</a:t>
            </a:r>
            <a:r>
              <a:rPr dirty="0" sz="4450" spc="-10"/>
              <a:t>Sales:</a:t>
            </a:r>
            <a:r>
              <a:rPr dirty="0" sz="4450"/>
              <a:t>	</a:t>
            </a:r>
            <a:r>
              <a:rPr dirty="0" sz="4450" spc="-25"/>
              <a:t>Key</a:t>
            </a:r>
            <a:r>
              <a:rPr dirty="0" sz="4450"/>
              <a:t>	</a:t>
            </a:r>
            <a:r>
              <a:rPr dirty="0" sz="4450" spc="-10"/>
              <a:t>Drivers </a:t>
            </a:r>
            <a:r>
              <a:rPr dirty="0" sz="4450" spc="-25"/>
              <a:t>in</a:t>
            </a:r>
            <a:r>
              <a:rPr dirty="0" sz="4450"/>
              <a:t>	</a:t>
            </a:r>
            <a:r>
              <a:rPr dirty="0" sz="4450" spc="-10"/>
              <a:t>Consumer</a:t>
            </a:r>
            <a:r>
              <a:rPr dirty="0" sz="4450"/>
              <a:t>	</a:t>
            </a:r>
            <a:r>
              <a:rPr dirty="0" sz="4450" spc="-10"/>
              <a:t>Behavior</a:t>
            </a:r>
            <a:endParaRPr sz="4450"/>
          </a:p>
        </p:txBody>
      </p:sp>
      <p:sp>
        <p:nvSpPr>
          <p:cNvPr id="4" name="object 4" descr=""/>
          <p:cNvSpPr txBox="1"/>
          <p:nvPr/>
        </p:nvSpPr>
        <p:spPr>
          <a:xfrm>
            <a:off x="781089" y="4827371"/>
            <a:ext cx="7297420" cy="1473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5700"/>
              </a:lnSpc>
              <a:spcBef>
                <a:spcPts val="100"/>
              </a:spcBef>
            </a:pP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This</a:t>
            </a:r>
            <a:r>
              <a:rPr dirty="0" sz="17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analysis</a:t>
            </a:r>
            <a:r>
              <a:rPr dirty="0" sz="17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of</a:t>
            </a:r>
            <a:r>
              <a:rPr dirty="0" sz="17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3,900</a:t>
            </a:r>
            <a:r>
              <a:rPr dirty="0" sz="17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transaction</a:t>
            </a:r>
            <a:r>
              <a:rPr dirty="0" sz="17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records</a:t>
            </a:r>
            <a:r>
              <a:rPr dirty="0" sz="17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decodes</a:t>
            </a:r>
            <a:r>
              <a:rPr dirty="0" sz="17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customer</a:t>
            </a:r>
            <a:r>
              <a:rPr dirty="0" sz="17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shopping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patterns</a:t>
            </a:r>
            <a:r>
              <a:rPr dirty="0" sz="1750" spc="-6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to</a:t>
            </a:r>
            <a:r>
              <a:rPr dirty="0" sz="1750" spc="-6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improve</a:t>
            </a:r>
            <a:r>
              <a:rPr dirty="0" sz="1750" spc="-6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sales</a:t>
            </a:r>
            <a:r>
              <a:rPr dirty="0" sz="1750" spc="-6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strategy</a:t>
            </a:r>
            <a:r>
              <a:rPr dirty="0" sz="1750" spc="-6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and</a:t>
            </a:r>
            <a:r>
              <a:rPr dirty="0" sz="1750" spc="-6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customer</a:t>
            </a:r>
            <a:r>
              <a:rPr dirty="0" sz="1750" spc="-6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loyalty.</a:t>
            </a:r>
            <a:r>
              <a:rPr dirty="0" sz="1750" spc="-6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We</a:t>
            </a:r>
            <a:r>
              <a:rPr dirty="0" sz="1750" spc="-6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identified</a:t>
            </a:r>
            <a:r>
              <a:rPr dirty="0" sz="1750" spc="-6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52576B"/>
                </a:solidFill>
                <a:latin typeface="Arial"/>
                <a:cs typeface="Arial"/>
              </a:rPr>
              <a:t>that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Subscription</a:t>
            </a:r>
            <a:r>
              <a:rPr dirty="0" sz="17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Status</a:t>
            </a:r>
            <a:r>
              <a:rPr dirty="0" sz="17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and</a:t>
            </a:r>
            <a:r>
              <a:rPr dirty="0" sz="17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Age</a:t>
            </a:r>
            <a:r>
              <a:rPr dirty="0" sz="175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Group</a:t>
            </a:r>
            <a:r>
              <a:rPr dirty="0" sz="17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are</a:t>
            </a:r>
            <a:r>
              <a:rPr dirty="0" sz="17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critical</a:t>
            </a:r>
            <a:r>
              <a:rPr dirty="0" sz="17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indicators</a:t>
            </a:r>
            <a:r>
              <a:rPr dirty="0" sz="175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of</a:t>
            </a:r>
            <a:r>
              <a:rPr dirty="0" sz="17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revenue potential.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3562" y="445961"/>
            <a:ext cx="211391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373A47"/>
                </a:solidFill>
                <a:latin typeface="Arial"/>
                <a:cs typeface="Arial"/>
              </a:rPr>
              <a:t>DATASET</a:t>
            </a:r>
            <a:r>
              <a:rPr dirty="0" sz="1600" spc="-5">
                <a:solidFill>
                  <a:srgbClr val="373A47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373A47"/>
                </a:solidFill>
                <a:latin typeface="Arial"/>
                <a:cs typeface="Arial"/>
              </a:rPr>
              <a:t>OVERVIEW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175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Understanding</a:t>
            </a:r>
            <a:r>
              <a:rPr dirty="0" sz="3200" spc="-25"/>
              <a:t> </a:t>
            </a:r>
            <a:r>
              <a:rPr dirty="0" sz="3200"/>
              <a:t>Our</a:t>
            </a:r>
            <a:r>
              <a:rPr dirty="0" sz="3200" spc="-25"/>
              <a:t> </a:t>
            </a:r>
            <a:r>
              <a:rPr dirty="0" sz="3200"/>
              <a:t>Customer</a:t>
            </a:r>
            <a:r>
              <a:rPr dirty="0" sz="3200" spc="-20"/>
              <a:t> Data</a:t>
            </a:r>
            <a:endParaRPr sz="3200"/>
          </a:p>
        </p:txBody>
      </p:sp>
      <p:grpSp>
        <p:nvGrpSpPr>
          <p:cNvPr id="4" name="object 4" descr=""/>
          <p:cNvGrpSpPr/>
          <p:nvPr/>
        </p:nvGrpSpPr>
        <p:grpSpPr>
          <a:xfrm>
            <a:off x="576262" y="4631766"/>
            <a:ext cx="6538595" cy="963294"/>
            <a:chOff x="576262" y="4631766"/>
            <a:chExt cx="6538595" cy="963294"/>
          </a:xfrm>
        </p:grpSpPr>
        <p:sp>
          <p:nvSpPr>
            <p:cNvPr id="5" name="object 5" descr=""/>
            <p:cNvSpPr/>
            <p:nvPr/>
          </p:nvSpPr>
          <p:spPr>
            <a:xfrm>
              <a:off x="576262" y="4631766"/>
              <a:ext cx="6538595" cy="963294"/>
            </a:xfrm>
            <a:custGeom>
              <a:avLst/>
              <a:gdLst/>
              <a:ahLst/>
              <a:cxnLst/>
              <a:rect l="l" t="t" r="r" b="b"/>
              <a:pathLst>
                <a:path w="6538595" h="963295">
                  <a:moveTo>
                    <a:pt x="6468922" y="0"/>
                  </a:moveTo>
                  <a:lnTo>
                    <a:pt x="69153" y="0"/>
                  </a:lnTo>
                  <a:lnTo>
                    <a:pt x="42343" y="5470"/>
                  </a:lnTo>
                  <a:lnTo>
                    <a:pt x="20350" y="20350"/>
                  </a:lnTo>
                  <a:lnTo>
                    <a:pt x="5470" y="42342"/>
                  </a:lnTo>
                  <a:lnTo>
                    <a:pt x="0" y="69151"/>
                  </a:lnTo>
                  <a:lnTo>
                    <a:pt x="0" y="893584"/>
                  </a:lnTo>
                  <a:lnTo>
                    <a:pt x="5470" y="920393"/>
                  </a:lnTo>
                  <a:lnTo>
                    <a:pt x="20350" y="942386"/>
                  </a:lnTo>
                  <a:lnTo>
                    <a:pt x="42343" y="957265"/>
                  </a:lnTo>
                  <a:lnTo>
                    <a:pt x="69153" y="962736"/>
                  </a:lnTo>
                  <a:lnTo>
                    <a:pt x="6468922" y="962736"/>
                  </a:lnTo>
                  <a:lnTo>
                    <a:pt x="6495731" y="957265"/>
                  </a:lnTo>
                  <a:lnTo>
                    <a:pt x="6517724" y="942386"/>
                  </a:lnTo>
                  <a:lnTo>
                    <a:pt x="6532603" y="920393"/>
                  </a:lnTo>
                  <a:lnTo>
                    <a:pt x="6538074" y="893584"/>
                  </a:lnTo>
                  <a:lnTo>
                    <a:pt x="6538074" y="69151"/>
                  </a:lnTo>
                  <a:lnTo>
                    <a:pt x="6532603" y="42342"/>
                  </a:lnTo>
                  <a:lnTo>
                    <a:pt x="6517724" y="20350"/>
                  </a:lnTo>
                  <a:lnTo>
                    <a:pt x="6495731" y="5470"/>
                  </a:lnTo>
                  <a:lnTo>
                    <a:pt x="6468922" y="0"/>
                  </a:lnTo>
                  <a:close/>
                </a:path>
              </a:pathLst>
            </a:custGeom>
            <a:solidFill>
              <a:srgbClr val="D3D5D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0807" y="4883823"/>
              <a:ext cx="205740" cy="164541"/>
            </a:xfrm>
            <a:prstGeom prst="rect">
              <a:avLst/>
            </a:prstGeom>
          </p:spPr>
        </p:pic>
      </p:grp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23682" y="2170988"/>
            <a:ext cx="7038111" cy="6058611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563562" y="1591132"/>
            <a:ext cx="10582275" cy="37763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52576B"/>
                </a:solidFill>
                <a:latin typeface="Arial"/>
                <a:cs typeface="Arial"/>
              </a:rPr>
              <a:t>The</a:t>
            </a:r>
            <a:r>
              <a:rPr dirty="0" sz="125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2576B"/>
                </a:solidFill>
                <a:latin typeface="Arial"/>
                <a:cs typeface="Arial"/>
              </a:rPr>
              <a:t>analysis</a:t>
            </a:r>
            <a:r>
              <a:rPr dirty="0" sz="125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2576B"/>
                </a:solidFill>
                <a:latin typeface="Arial"/>
                <a:cs typeface="Arial"/>
              </a:rPr>
              <a:t>was</a:t>
            </a:r>
            <a:r>
              <a:rPr dirty="0" sz="125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2576B"/>
                </a:solidFill>
                <a:latin typeface="Arial"/>
                <a:cs typeface="Arial"/>
              </a:rPr>
              <a:t>built</a:t>
            </a:r>
            <a:r>
              <a:rPr dirty="0" sz="125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2576B"/>
                </a:solidFill>
                <a:latin typeface="Arial"/>
                <a:cs typeface="Arial"/>
              </a:rPr>
              <a:t>on</a:t>
            </a:r>
            <a:r>
              <a:rPr dirty="0" sz="125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2576B"/>
                </a:solidFill>
                <a:latin typeface="Arial"/>
                <a:cs typeface="Arial"/>
              </a:rPr>
              <a:t>a</a:t>
            </a:r>
            <a:r>
              <a:rPr dirty="0" sz="125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52576B"/>
                </a:solidFill>
                <a:latin typeface="Arial"/>
                <a:cs typeface="Arial"/>
              </a:rPr>
              <a:t>comprehensive</a:t>
            </a:r>
            <a:r>
              <a:rPr dirty="0" sz="125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2576B"/>
                </a:solidFill>
                <a:latin typeface="Arial"/>
                <a:cs typeface="Arial"/>
              </a:rPr>
              <a:t>dataset</a:t>
            </a:r>
            <a:r>
              <a:rPr dirty="0" sz="125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2576B"/>
                </a:solidFill>
                <a:latin typeface="Arial"/>
                <a:cs typeface="Arial"/>
              </a:rPr>
              <a:t>of</a:t>
            </a:r>
            <a:r>
              <a:rPr dirty="0" sz="125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2576B"/>
                </a:solidFill>
                <a:latin typeface="Arial"/>
                <a:cs typeface="Arial"/>
              </a:rPr>
              <a:t>3,900</a:t>
            </a:r>
            <a:r>
              <a:rPr dirty="0" sz="125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2576B"/>
                </a:solidFill>
                <a:latin typeface="Arial"/>
                <a:cs typeface="Arial"/>
              </a:rPr>
              <a:t>customer</a:t>
            </a:r>
            <a:r>
              <a:rPr dirty="0" sz="125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2576B"/>
                </a:solidFill>
                <a:latin typeface="Arial"/>
                <a:cs typeface="Arial"/>
              </a:rPr>
              <a:t>shopping</a:t>
            </a:r>
            <a:r>
              <a:rPr dirty="0" sz="125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2576B"/>
                </a:solidFill>
                <a:latin typeface="Arial"/>
                <a:cs typeface="Arial"/>
              </a:rPr>
              <a:t>records,</a:t>
            </a:r>
            <a:r>
              <a:rPr dirty="0" sz="125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52576B"/>
                </a:solidFill>
                <a:latin typeface="Arial"/>
                <a:cs typeface="Arial"/>
              </a:rPr>
              <a:t>providing</a:t>
            </a:r>
            <a:r>
              <a:rPr dirty="0" sz="125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2576B"/>
                </a:solidFill>
                <a:latin typeface="Arial"/>
                <a:cs typeface="Arial"/>
              </a:rPr>
              <a:t>a</a:t>
            </a:r>
            <a:r>
              <a:rPr dirty="0" sz="125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2576B"/>
                </a:solidFill>
                <a:latin typeface="Arial"/>
                <a:cs typeface="Arial"/>
              </a:rPr>
              <a:t>rich</a:t>
            </a:r>
            <a:r>
              <a:rPr dirty="0" sz="125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52576B"/>
                </a:solidFill>
                <a:latin typeface="Arial"/>
                <a:cs typeface="Arial"/>
              </a:rPr>
              <a:t>foundation</a:t>
            </a:r>
            <a:r>
              <a:rPr dirty="0" sz="125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2576B"/>
                </a:solidFill>
                <a:latin typeface="Arial"/>
                <a:cs typeface="Arial"/>
              </a:rPr>
              <a:t>for</a:t>
            </a:r>
            <a:r>
              <a:rPr dirty="0" sz="125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52576B"/>
                </a:solidFill>
                <a:latin typeface="Arial"/>
                <a:cs typeface="Arial"/>
              </a:rPr>
              <a:t>identifying</a:t>
            </a:r>
            <a:r>
              <a:rPr dirty="0" sz="125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2576B"/>
                </a:solidFill>
                <a:latin typeface="Arial"/>
                <a:cs typeface="Arial"/>
              </a:rPr>
              <a:t>patterns</a:t>
            </a:r>
            <a:r>
              <a:rPr dirty="0" sz="125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2576B"/>
                </a:solidFill>
                <a:latin typeface="Arial"/>
                <a:cs typeface="Arial"/>
              </a:rPr>
              <a:t>and</a:t>
            </a:r>
            <a:r>
              <a:rPr dirty="0" sz="125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52576B"/>
                </a:solidFill>
                <a:latin typeface="Arial"/>
                <a:cs typeface="Arial"/>
              </a:rPr>
              <a:t>trends.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50" b="1">
                <a:solidFill>
                  <a:srgbClr val="52576B"/>
                </a:solidFill>
                <a:latin typeface="Arial"/>
                <a:cs typeface="Arial"/>
              </a:rPr>
              <a:t>Rows:</a:t>
            </a:r>
            <a:r>
              <a:rPr dirty="0" sz="1250" spc="-40" b="1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2576B"/>
                </a:solidFill>
                <a:latin typeface="Arial"/>
                <a:cs typeface="Arial"/>
              </a:rPr>
              <a:t>3,900</a:t>
            </a:r>
            <a:r>
              <a:rPr dirty="0" sz="125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52576B"/>
                </a:solidFill>
                <a:latin typeface="Arial"/>
                <a:cs typeface="Arial"/>
              </a:rPr>
              <a:t>individual</a:t>
            </a:r>
            <a:r>
              <a:rPr dirty="0" sz="125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2576B"/>
                </a:solidFill>
                <a:latin typeface="Arial"/>
                <a:cs typeface="Arial"/>
              </a:rPr>
              <a:t>shopping</a:t>
            </a:r>
            <a:r>
              <a:rPr dirty="0" sz="125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52576B"/>
                </a:solidFill>
                <a:latin typeface="Arial"/>
                <a:cs typeface="Arial"/>
              </a:rPr>
              <a:t>records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dirty="0" sz="1250" b="1">
                <a:solidFill>
                  <a:srgbClr val="52576B"/>
                </a:solidFill>
                <a:latin typeface="Arial"/>
                <a:cs typeface="Arial"/>
              </a:rPr>
              <a:t>Columns:</a:t>
            </a:r>
            <a:r>
              <a:rPr dirty="0" sz="1250" spc="-40" b="1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2576B"/>
                </a:solidFill>
                <a:latin typeface="Arial"/>
                <a:cs typeface="Arial"/>
              </a:rPr>
              <a:t>18</a:t>
            </a:r>
            <a:r>
              <a:rPr dirty="0" sz="125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2576B"/>
                </a:solidFill>
                <a:latin typeface="Arial"/>
                <a:cs typeface="Arial"/>
              </a:rPr>
              <a:t>distinct</a:t>
            </a:r>
            <a:r>
              <a:rPr dirty="0" sz="12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52576B"/>
                </a:solidFill>
                <a:latin typeface="Arial"/>
                <a:cs typeface="Arial"/>
              </a:rPr>
              <a:t>features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50" b="1">
                <a:solidFill>
                  <a:srgbClr val="52576B"/>
                </a:solidFill>
                <a:latin typeface="Arial"/>
                <a:cs typeface="Arial"/>
              </a:rPr>
              <a:t>Key</a:t>
            </a:r>
            <a:r>
              <a:rPr dirty="0" sz="1250" spc="-55" b="1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52576B"/>
                </a:solidFill>
                <a:latin typeface="Arial"/>
                <a:cs typeface="Arial"/>
              </a:rPr>
              <a:t>Features</a:t>
            </a:r>
            <a:r>
              <a:rPr dirty="0" sz="1250" spc="-50" b="1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 spc="-10" b="1">
                <a:solidFill>
                  <a:srgbClr val="52576B"/>
                </a:solidFill>
                <a:latin typeface="Arial"/>
                <a:cs typeface="Arial"/>
              </a:rPr>
              <a:t>Examined: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50" b="1">
                <a:solidFill>
                  <a:srgbClr val="52576B"/>
                </a:solidFill>
                <a:latin typeface="Arial"/>
                <a:cs typeface="Arial"/>
              </a:rPr>
              <a:t>Customer</a:t>
            </a:r>
            <a:r>
              <a:rPr dirty="0" sz="1250" spc="-35" b="1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 spc="-10" b="1">
                <a:solidFill>
                  <a:srgbClr val="52576B"/>
                </a:solidFill>
                <a:latin typeface="Arial"/>
                <a:cs typeface="Arial"/>
              </a:rPr>
              <a:t>Demographics:</a:t>
            </a:r>
            <a:r>
              <a:rPr dirty="0" sz="1250" spc="-30" b="1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2576B"/>
                </a:solidFill>
                <a:latin typeface="Arial"/>
                <a:cs typeface="Arial"/>
              </a:rPr>
              <a:t>Age,</a:t>
            </a:r>
            <a:r>
              <a:rPr dirty="0" sz="12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2576B"/>
                </a:solidFill>
                <a:latin typeface="Arial"/>
                <a:cs typeface="Arial"/>
              </a:rPr>
              <a:t>Gender,</a:t>
            </a:r>
            <a:r>
              <a:rPr dirty="0" sz="12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2576B"/>
                </a:solidFill>
                <a:latin typeface="Arial"/>
                <a:cs typeface="Arial"/>
              </a:rPr>
              <a:t>Location,</a:t>
            </a:r>
            <a:r>
              <a:rPr dirty="0" sz="12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52576B"/>
                </a:solidFill>
                <a:latin typeface="Arial"/>
                <a:cs typeface="Arial"/>
              </a:rPr>
              <a:t>Subscription</a:t>
            </a:r>
            <a:r>
              <a:rPr dirty="0" sz="12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52576B"/>
                </a:solidFill>
                <a:latin typeface="Arial"/>
                <a:cs typeface="Arial"/>
              </a:rPr>
              <a:t>Status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dirty="0" sz="1250" b="1">
                <a:solidFill>
                  <a:srgbClr val="52576B"/>
                </a:solidFill>
                <a:latin typeface="Arial"/>
                <a:cs typeface="Arial"/>
              </a:rPr>
              <a:t>Purchase</a:t>
            </a:r>
            <a:r>
              <a:rPr dirty="0" sz="1250" spc="-50" b="1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52576B"/>
                </a:solidFill>
                <a:latin typeface="Arial"/>
                <a:cs typeface="Arial"/>
              </a:rPr>
              <a:t>Details:</a:t>
            </a:r>
            <a:r>
              <a:rPr dirty="0" sz="1250" spc="-40" b="1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2576B"/>
                </a:solidFill>
                <a:latin typeface="Arial"/>
                <a:cs typeface="Arial"/>
              </a:rPr>
              <a:t>Item</a:t>
            </a:r>
            <a:r>
              <a:rPr dirty="0" sz="12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52576B"/>
                </a:solidFill>
                <a:latin typeface="Arial"/>
                <a:cs typeface="Arial"/>
              </a:rPr>
              <a:t>Purchased,</a:t>
            </a:r>
            <a:r>
              <a:rPr dirty="0" sz="12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52576B"/>
                </a:solidFill>
                <a:latin typeface="Arial"/>
                <a:cs typeface="Arial"/>
              </a:rPr>
              <a:t>Category,</a:t>
            </a:r>
            <a:r>
              <a:rPr dirty="0" sz="12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2576B"/>
                </a:solidFill>
                <a:latin typeface="Arial"/>
                <a:cs typeface="Arial"/>
              </a:rPr>
              <a:t>Purchase</a:t>
            </a:r>
            <a:r>
              <a:rPr dirty="0" sz="12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2576B"/>
                </a:solidFill>
                <a:latin typeface="Arial"/>
                <a:cs typeface="Arial"/>
              </a:rPr>
              <a:t>Amount,</a:t>
            </a:r>
            <a:r>
              <a:rPr dirty="0" sz="12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2576B"/>
                </a:solidFill>
                <a:latin typeface="Arial"/>
                <a:cs typeface="Arial"/>
              </a:rPr>
              <a:t>Season,</a:t>
            </a:r>
            <a:r>
              <a:rPr dirty="0" sz="12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2576B"/>
                </a:solidFill>
                <a:latin typeface="Arial"/>
                <a:cs typeface="Arial"/>
              </a:rPr>
              <a:t>Size,</a:t>
            </a:r>
            <a:r>
              <a:rPr dirty="0" sz="12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52576B"/>
                </a:solidFill>
                <a:latin typeface="Arial"/>
                <a:cs typeface="Arial"/>
              </a:rPr>
              <a:t>Color</a:t>
            </a:r>
            <a:endParaRPr sz="1250">
              <a:latin typeface="Arial"/>
              <a:cs typeface="Arial"/>
            </a:endParaRPr>
          </a:p>
          <a:p>
            <a:pPr marL="12700" marR="4089400">
              <a:lnSpc>
                <a:spcPct val="136700"/>
              </a:lnSpc>
              <a:spcBef>
                <a:spcPts val="480"/>
              </a:spcBef>
            </a:pPr>
            <a:r>
              <a:rPr dirty="0" sz="1250" b="1">
                <a:solidFill>
                  <a:srgbClr val="52576B"/>
                </a:solidFill>
                <a:latin typeface="Arial"/>
                <a:cs typeface="Arial"/>
              </a:rPr>
              <a:t>Shopping</a:t>
            </a:r>
            <a:r>
              <a:rPr dirty="0" sz="1250" spc="-50" b="1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52576B"/>
                </a:solidFill>
                <a:latin typeface="Arial"/>
                <a:cs typeface="Arial"/>
              </a:rPr>
              <a:t>Behavior:</a:t>
            </a:r>
            <a:r>
              <a:rPr dirty="0" sz="1250" spc="-50" b="1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2576B"/>
                </a:solidFill>
                <a:latin typeface="Arial"/>
                <a:cs typeface="Arial"/>
              </a:rPr>
              <a:t>Discount</a:t>
            </a:r>
            <a:r>
              <a:rPr dirty="0" sz="12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2576B"/>
                </a:solidFill>
                <a:latin typeface="Arial"/>
                <a:cs typeface="Arial"/>
              </a:rPr>
              <a:t>Applied,</a:t>
            </a:r>
            <a:r>
              <a:rPr dirty="0" sz="12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2576B"/>
                </a:solidFill>
                <a:latin typeface="Arial"/>
                <a:cs typeface="Arial"/>
              </a:rPr>
              <a:t>Promo</a:t>
            </a:r>
            <a:r>
              <a:rPr dirty="0" sz="12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2576B"/>
                </a:solidFill>
                <a:latin typeface="Arial"/>
                <a:cs typeface="Arial"/>
              </a:rPr>
              <a:t>Code</a:t>
            </a:r>
            <a:r>
              <a:rPr dirty="0" sz="12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2576B"/>
                </a:solidFill>
                <a:latin typeface="Arial"/>
                <a:cs typeface="Arial"/>
              </a:rPr>
              <a:t>Used,</a:t>
            </a:r>
            <a:r>
              <a:rPr dirty="0" sz="12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2576B"/>
                </a:solidFill>
                <a:latin typeface="Arial"/>
                <a:cs typeface="Arial"/>
              </a:rPr>
              <a:t>Previous</a:t>
            </a:r>
            <a:r>
              <a:rPr dirty="0" sz="12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52576B"/>
                </a:solidFill>
                <a:latin typeface="Arial"/>
                <a:cs typeface="Arial"/>
              </a:rPr>
              <a:t>Purchases,</a:t>
            </a:r>
            <a:r>
              <a:rPr dirty="0" sz="12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52576B"/>
                </a:solidFill>
                <a:latin typeface="Arial"/>
                <a:cs typeface="Arial"/>
              </a:rPr>
              <a:t>Frequency </a:t>
            </a:r>
            <a:r>
              <a:rPr dirty="0" sz="1250">
                <a:solidFill>
                  <a:srgbClr val="52576B"/>
                </a:solidFill>
                <a:latin typeface="Arial"/>
                <a:cs typeface="Arial"/>
              </a:rPr>
              <a:t>of</a:t>
            </a:r>
            <a:r>
              <a:rPr dirty="0" sz="12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52576B"/>
                </a:solidFill>
                <a:latin typeface="Arial"/>
                <a:cs typeface="Arial"/>
              </a:rPr>
              <a:t>Purchases,</a:t>
            </a:r>
            <a:r>
              <a:rPr dirty="0" sz="12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2576B"/>
                </a:solidFill>
                <a:latin typeface="Arial"/>
                <a:cs typeface="Arial"/>
              </a:rPr>
              <a:t>Review</a:t>
            </a:r>
            <a:r>
              <a:rPr dirty="0" sz="12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2576B"/>
                </a:solidFill>
                <a:latin typeface="Arial"/>
                <a:cs typeface="Arial"/>
              </a:rPr>
              <a:t>Rating,</a:t>
            </a:r>
            <a:r>
              <a:rPr dirty="0" sz="12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2576B"/>
                </a:solidFill>
                <a:latin typeface="Arial"/>
                <a:cs typeface="Arial"/>
              </a:rPr>
              <a:t>Shipping</a:t>
            </a:r>
            <a:r>
              <a:rPr dirty="0" sz="12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250" spc="-20">
                <a:solidFill>
                  <a:srgbClr val="52576B"/>
                </a:solidFill>
                <a:latin typeface="Arial"/>
                <a:cs typeface="Arial"/>
              </a:rPr>
              <a:t>Type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250">
              <a:latin typeface="Arial"/>
              <a:cs typeface="Arial"/>
            </a:endParaRPr>
          </a:p>
          <a:p>
            <a:pPr marL="547370" marR="4374515">
              <a:lnSpc>
                <a:spcPct val="136700"/>
              </a:lnSpc>
              <a:spcBef>
                <a:spcPts val="5"/>
              </a:spcBef>
            </a:pPr>
            <a:r>
              <a:rPr dirty="0" sz="1250" b="1">
                <a:latin typeface="Arial"/>
                <a:cs typeface="Arial"/>
              </a:rPr>
              <a:t>Missing</a:t>
            </a:r>
            <a:r>
              <a:rPr dirty="0" sz="1250" spc="-40" b="1">
                <a:latin typeface="Arial"/>
                <a:cs typeface="Arial"/>
              </a:rPr>
              <a:t> </a:t>
            </a:r>
            <a:r>
              <a:rPr dirty="0" sz="1250" b="1">
                <a:latin typeface="Arial"/>
                <a:cs typeface="Arial"/>
              </a:rPr>
              <a:t>Data</a:t>
            </a:r>
            <a:r>
              <a:rPr dirty="0" sz="1250" spc="-35" b="1">
                <a:latin typeface="Arial"/>
                <a:cs typeface="Arial"/>
              </a:rPr>
              <a:t> </a:t>
            </a:r>
            <a:r>
              <a:rPr dirty="0" sz="1250" b="1">
                <a:latin typeface="Arial"/>
                <a:cs typeface="Arial"/>
              </a:rPr>
              <a:t>Note:</a:t>
            </a:r>
            <a:r>
              <a:rPr dirty="0" sz="1250" spc="-40" b="1">
                <a:latin typeface="Arial"/>
                <a:cs typeface="Arial"/>
              </a:rPr>
              <a:t> </a:t>
            </a:r>
            <a:r>
              <a:rPr dirty="0" sz="1250">
                <a:latin typeface="Arial"/>
                <a:cs typeface="Arial"/>
              </a:rPr>
              <a:t>Only</a:t>
            </a:r>
            <a:r>
              <a:rPr dirty="0" sz="1250" spc="-35">
                <a:latin typeface="Arial"/>
                <a:cs typeface="Arial"/>
              </a:rPr>
              <a:t> </a:t>
            </a:r>
            <a:r>
              <a:rPr dirty="0" sz="1250">
                <a:latin typeface="Arial"/>
                <a:cs typeface="Arial"/>
              </a:rPr>
              <a:t>37</a:t>
            </a:r>
            <a:r>
              <a:rPr dirty="0" sz="1250" spc="-35">
                <a:latin typeface="Arial"/>
                <a:cs typeface="Arial"/>
              </a:rPr>
              <a:t> </a:t>
            </a:r>
            <a:r>
              <a:rPr dirty="0" sz="1250">
                <a:latin typeface="Arial"/>
                <a:cs typeface="Arial"/>
              </a:rPr>
              <a:t>values</a:t>
            </a:r>
            <a:r>
              <a:rPr dirty="0" sz="1250" spc="-40">
                <a:latin typeface="Arial"/>
                <a:cs typeface="Arial"/>
              </a:rPr>
              <a:t> </a:t>
            </a:r>
            <a:r>
              <a:rPr dirty="0" sz="1250">
                <a:latin typeface="Arial"/>
                <a:cs typeface="Arial"/>
              </a:rPr>
              <a:t>were</a:t>
            </a:r>
            <a:r>
              <a:rPr dirty="0" sz="1250" spc="-35">
                <a:latin typeface="Arial"/>
                <a:cs typeface="Arial"/>
              </a:rPr>
              <a:t> </a:t>
            </a:r>
            <a:r>
              <a:rPr dirty="0" sz="1250">
                <a:latin typeface="Arial"/>
                <a:cs typeface="Arial"/>
              </a:rPr>
              <a:t>missing</a:t>
            </a:r>
            <a:r>
              <a:rPr dirty="0" sz="1250" spc="-35">
                <a:latin typeface="Arial"/>
                <a:cs typeface="Arial"/>
              </a:rPr>
              <a:t> </a:t>
            </a:r>
            <a:r>
              <a:rPr dirty="0" sz="1250">
                <a:latin typeface="Arial"/>
                <a:cs typeface="Arial"/>
              </a:rPr>
              <a:t>in</a:t>
            </a:r>
            <a:r>
              <a:rPr dirty="0" sz="1250" spc="-40">
                <a:latin typeface="Arial"/>
                <a:cs typeface="Arial"/>
              </a:rPr>
              <a:t> </a:t>
            </a:r>
            <a:r>
              <a:rPr dirty="0" sz="1250">
                <a:latin typeface="Arial"/>
                <a:cs typeface="Arial"/>
              </a:rPr>
              <a:t>the</a:t>
            </a:r>
            <a:r>
              <a:rPr dirty="0" sz="1250" spc="-35">
                <a:latin typeface="Arial"/>
                <a:cs typeface="Arial"/>
              </a:rPr>
              <a:t> </a:t>
            </a:r>
            <a:r>
              <a:rPr dirty="0" sz="1250">
                <a:latin typeface="Arial"/>
                <a:cs typeface="Arial"/>
              </a:rPr>
              <a:t>'Review</a:t>
            </a:r>
            <a:r>
              <a:rPr dirty="0" sz="1250" spc="-40">
                <a:latin typeface="Arial"/>
                <a:cs typeface="Arial"/>
              </a:rPr>
              <a:t> </a:t>
            </a:r>
            <a:r>
              <a:rPr dirty="0" sz="1250">
                <a:latin typeface="Arial"/>
                <a:cs typeface="Arial"/>
              </a:rPr>
              <a:t>Rating'</a:t>
            </a:r>
            <a:r>
              <a:rPr dirty="0" sz="1250" spc="-35">
                <a:latin typeface="Arial"/>
                <a:cs typeface="Arial"/>
              </a:rPr>
              <a:t> </a:t>
            </a:r>
            <a:r>
              <a:rPr dirty="0" sz="1250" spc="-10">
                <a:latin typeface="Arial"/>
                <a:cs typeface="Arial"/>
              </a:rPr>
              <a:t>column, </a:t>
            </a:r>
            <a:r>
              <a:rPr dirty="0" sz="1250">
                <a:latin typeface="Arial"/>
                <a:cs typeface="Arial"/>
              </a:rPr>
              <a:t>which</a:t>
            </a:r>
            <a:r>
              <a:rPr dirty="0" sz="1250" spc="-55">
                <a:latin typeface="Arial"/>
                <a:cs typeface="Arial"/>
              </a:rPr>
              <a:t> </a:t>
            </a:r>
            <a:r>
              <a:rPr dirty="0" sz="1250">
                <a:latin typeface="Arial"/>
                <a:cs typeface="Arial"/>
              </a:rPr>
              <a:t>were</a:t>
            </a:r>
            <a:r>
              <a:rPr dirty="0" sz="1250" spc="-50">
                <a:latin typeface="Arial"/>
                <a:cs typeface="Arial"/>
              </a:rPr>
              <a:t> </a:t>
            </a:r>
            <a:r>
              <a:rPr dirty="0" sz="1250">
                <a:latin typeface="Arial"/>
                <a:cs typeface="Arial"/>
              </a:rPr>
              <a:t>carefully</a:t>
            </a:r>
            <a:r>
              <a:rPr dirty="0" sz="1250" spc="-55">
                <a:latin typeface="Arial"/>
                <a:cs typeface="Arial"/>
              </a:rPr>
              <a:t> </a:t>
            </a:r>
            <a:r>
              <a:rPr dirty="0" sz="1250">
                <a:latin typeface="Arial"/>
                <a:cs typeface="Arial"/>
              </a:rPr>
              <a:t>handled</a:t>
            </a:r>
            <a:r>
              <a:rPr dirty="0" sz="1250" spc="-50">
                <a:latin typeface="Arial"/>
                <a:cs typeface="Arial"/>
              </a:rPr>
              <a:t> </a:t>
            </a:r>
            <a:r>
              <a:rPr dirty="0" sz="1250">
                <a:latin typeface="Arial"/>
                <a:cs typeface="Arial"/>
              </a:rPr>
              <a:t>during</a:t>
            </a:r>
            <a:r>
              <a:rPr dirty="0" sz="1250" spc="-50">
                <a:latin typeface="Arial"/>
                <a:cs typeface="Arial"/>
              </a:rPr>
              <a:t> </a:t>
            </a:r>
            <a:r>
              <a:rPr dirty="0" sz="1250">
                <a:latin typeface="Arial"/>
                <a:cs typeface="Arial"/>
              </a:rPr>
              <a:t>data</a:t>
            </a:r>
            <a:r>
              <a:rPr dirty="0" sz="1250" spc="-55">
                <a:latin typeface="Arial"/>
                <a:cs typeface="Arial"/>
              </a:rPr>
              <a:t> </a:t>
            </a:r>
            <a:r>
              <a:rPr dirty="0" sz="1250" spc="-10">
                <a:latin typeface="Arial"/>
                <a:cs typeface="Arial"/>
              </a:rPr>
              <a:t>preparation.</a:t>
            </a:r>
            <a:endParaRPr sz="1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878" y="574547"/>
            <a:ext cx="7483475" cy="961390"/>
          </a:xfrm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1750"/>
              <a:t>DATA</a:t>
            </a:r>
            <a:r>
              <a:rPr dirty="0" sz="1750" spc="-20"/>
              <a:t> </a:t>
            </a:r>
            <a:r>
              <a:rPr dirty="0" sz="1750"/>
              <a:t>PREPARATION</a:t>
            </a:r>
            <a:r>
              <a:rPr dirty="0" sz="1750" spc="-20"/>
              <a:t> </a:t>
            </a:r>
            <a:r>
              <a:rPr dirty="0" sz="1750"/>
              <a:t>IN</a:t>
            </a:r>
            <a:r>
              <a:rPr dirty="0" sz="1750" spc="-20"/>
              <a:t> </a:t>
            </a:r>
            <a:r>
              <a:rPr dirty="0" sz="1750" spc="-10"/>
              <a:t>PYTHON</a:t>
            </a:r>
            <a:endParaRPr sz="1750"/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3500"/>
              <a:t>From</a:t>
            </a:r>
            <a:r>
              <a:rPr dirty="0" sz="3500" spc="-65"/>
              <a:t> </a:t>
            </a:r>
            <a:r>
              <a:rPr dirty="0" sz="3500"/>
              <a:t>Raw</a:t>
            </a:r>
            <a:r>
              <a:rPr dirty="0" sz="3500" spc="-65"/>
              <a:t> </a:t>
            </a:r>
            <a:r>
              <a:rPr dirty="0" sz="3500"/>
              <a:t>Data</a:t>
            </a:r>
            <a:r>
              <a:rPr dirty="0" sz="3500" spc="-65"/>
              <a:t> </a:t>
            </a:r>
            <a:r>
              <a:rPr dirty="0" sz="3500"/>
              <a:t>to</a:t>
            </a:r>
            <a:r>
              <a:rPr dirty="0" sz="3500" spc="-65"/>
              <a:t> </a:t>
            </a:r>
            <a:r>
              <a:rPr dirty="0" sz="3500"/>
              <a:t>Actionable</a:t>
            </a:r>
            <a:r>
              <a:rPr dirty="0" sz="3500" spc="-65"/>
              <a:t> </a:t>
            </a:r>
            <a:r>
              <a:rPr dirty="0" sz="3500" spc="-10"/>
              <a:t>Insights</a:t>
            </a:r>
            <a:endParaRPr sz="3500"/>
          </a:p>
        </p:txBody>
      </p:sp>
      <p:grpSp>
        <p:nvGrpSpPr>
          <p:cNvPr id="3" name="object 3" descr=""/>
          <p:cNvGrpSpPr/>
          <p:nvPr/>
        </p:nvGrpSpPr>
        <p:grpSpPr>
          <a:xfrm>
            <a:off x="6982307" y="2287308"/>
            <a:ext cx="400050" cy="5311775"/>
            <a:chOff x="6982307" y="2287308"/>
            <a:chExt cx="400050" cy="5311775"/>
          </a:xfrm>
        </p:grpSpPr>
        <p:sp>
          <p:nvSpPr>
            <p:cNvPr id="4" name="object 4" descr=""/>
            <p:cNvSpPr/>
            <p:nvPr/>
          </p:nvSpPr>
          <p:spPr>
            <a:xfrm>
              <a:off x="6982308" y="2287307"/>
              <a:ext cx="356235" cy="5311775"/>
            </a:xfrm>
            <a:custGeom>
              <a:avLst/>
              <a:gdLst/>
              <a:ahLst/>
              <a:cxnLst/>
              <a:rect l="l" t="t" r="r" b="b"/>
              <a:pathLst>
                <a:path w="356234" h="5311775">
                  <a:moveTo>
                    <a:pt x="355752" y="193751"/>
                  </a:moveTo>
                  <a:lnTo>
                    <a:pt x="350596" y="188595"/>
                  </a:lnTo>
                  <a:lnTo>
                    <a:pt x="344322" y="188595"/>
                  </a:lnTo>
                  <a:lnTo>
                    <a:pt x="344322" y="5156"/>
                  </a:lnTo>
                  <a:lnTo>
                    <a:pt x="339153" y="0"/>
                  </a:lnTo>
                  <a:lnTo>
                    <a:pt x="326618" y="0"/>
                  </a:lnTo>
                  <a:lnTo>
                    <a:pt x="321462" y="5156"/>
                  </a:lnTo>
                  <a:lnTo>
                    <a:pt x="321462" y="11430"/>
                  </a:lnTo>
                  <a:lnTo>
                    <a:pt x="321462" y="188595"/>
                  </a:lnTo>
                  <a:lnTo>
                    <a:pt x="5156" y="188595"/>
                  </a:lnTo>
                  <a:lnTo>
                    <a:pt x="0" y="193751"/>
                  </a:lnTo>
                  <a:lnTo>
                    <a:pt x="0" y="200025"/>
                  </a:lnTo>
                  <a:lnTo>
                    <a:pt x="0" y="206298"/>
                  </a:lnTo>
                  <a:lnTo>
                    <a:pt x="5156" y="211455"/>
                  </a:lnTo>
                  <a:lnTo>
                    <a:pt x="321462" y="211455"/>
                  </a:lnTo>
                  <a:lnTo>
                    <a:pt x="321462" y="5306339"/>
                  </a:lnTo>
                  <a:lnTo>
                    <a:pt x="326618" y="5311495"/>
                  </a:lnTo>
                  <a:lnTo>
                    <a:pt x="339153" y="5311495"/>
                  </a:lnTo>
                  <a:lnTo>
                    <a:pt x="344322" y="5306339"/>
                  </a:lnTo>
                  <a:lnTo>
                    <a:pt x="344322" y="211455"/>
                  </a:lnTo>
                  <a:lnTo>
                    <a:pt x="350596" y="211455"/>
                  </a:lnTo>
                  <a:lnTo>
                    <a:pt x="355752" y="206298"/>
                  </a:lnTo>
                  <a:lnTo>
                    <a:pt x="355752" y="193751"/>
                  </a:lnTo>
                  <a:close/>
                </a:path>
              </a:pathLst>
            </a:custGeom>
            <a:solidFill>
              <a:srgbClr val="C7C9C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48525" y="2420658"/>
              <a:ext cx="133350" cy="133350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609878" y="1852307"/>
            <a:ext cx="12567920" cy="777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A</a:t>
            </a:r>
            <a:r>
              <a:rPr dirty="0" sz="140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meticulous</a:t>
            </a:r>
            <a:r>
              <a:rPr dirty="0" sz="140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data</a:t>
            </a:r>
            <a:r>
              <a:rPr dirty="0" sz="140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preparation</a:t>
            </a:r>
            <a:r>
              <a:rPr dirty="0" sz="140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process</a:t>
            </a:r>
            <a:r>
              <a:rPr dirty="0" sz="140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was</a:t>
            </a:r>
            <a:r>
              <a:rPr dirty="0" sz="140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crucial</a:t>
            </a:r>
            <a:r>
              <a:rPr dirty="0" sz="140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to</a:t>
            </a:r>
            <a:r>
              <a:rPr dirty="0" sz="140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ensure</a:t>
            </a:r>
            <a:r>
              <a:rPr dirty="0" sz="140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accuracy</a:t>
            </a:r>
            <a:r>
              <a:rPr dirty="0" sz="140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and</a:t>
            </a:r>
            <a:r>
              <a:rPr dirty="0" sz="140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consistency,</a:t>
            </a:r>
            <a:r>
              <a:rPr dirty="0" sz="140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transforming</a:t>
            </a:r>
            <a:r>
              <a:rPr dirty="0" sz="140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raw</a:t>
            </a:r>
            <a:r>
              <a:rPr dirty="0" sz="140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data</a:t>
            </a:r>
            <a:r>
              <a:rPr dirty="0" sz="140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into</a:t>
            </a:r>
            <a:r>
              <a:rPr dirty="0" sz="140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a</a:t>
            </a:r>
            <a:r>
              <a:rPr dirty="0" sz="140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clean,</a:t>
            </a:r>
            <a:r>
              <a:rPr dirty="0" sz="140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structured</a:t>
            </a:r>
            <a:r>
              <a:rPr dirty="0" sz="140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format</a:t>
            </a:r>
            <a:r>
              <a:rPr dirty="0" sz="140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ready</a:t>
            </a:r>
            <a:r>
              <a:rPr dirty="0" sz="140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for</a:t>
            </a:r>
            <a:r>
              <a:rPr dirty="0" sz="140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52576B"/>
                </a:solidFill>
                <a:latin typeface="Arial"/>
                <a:cs typeface="Arial"/>
              </a:rPr>
              <a:t>analysis.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1400">
              <a:latin typeface="Arial"/>
              <a:cs typeface="Arial"/>
            </a:endParaRPr>
          </a:p>
          <a:p>
            <a:pPr marL="2707640">
              <a:lnSpc>
                <a:spcPct val="100000"/>
              </a:lnSpc>
              <a:spcBef>
                <a:spcPts val="5"/>
              </a:spcBef>
            </a:pP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Data</a:t>
            </a:r>
            <a:r>
              <a:rPr dirty="0" sz="17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Loading</a:t>
            </a:r>
            <a:r>
              <a:rPr dirty="0" sz="17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&amp;</a:t>
            </a:r>
            <a:r>
              <a:rPr dirty="0" sz="17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Initial</a:t>
            </a:r>
            <a:r>
              <a:rPr dirty="0" sz="17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Exploration</a:t>
            </a:r>
            <a:endParaRPr sz="17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99136" y="2776080"/>
            <a:ext cx="289877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Dataset</a:t>
            </a:r>
            <a:r>
              <a:rPr dirty="0" sz="140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imported</a:t>
            </a:r>
            <a:r>
              <a:rPr dirty="0" sz="1400" spc="-2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using</a:t>
            </a:r>
            <a:r>
              <a:rPr dirty="0" sz="1400" spc="-2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pandas,</a:t>
            </a:r>
            <a:r>
              <a:rPr dirty="0" sz="1400" spc="-2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52576B"/>
                </a:solidFill>
                <a:latin typeface="Arial"/>
                <a:cs typeface="Arial"/>
              </a:rPr>
              <a:t>with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937252" y="2733078"/>
            <a:ext cx="643890" cy="27940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5524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34"/>
              </a:spcBef>
            </a:pPr>
            <a:r>
              <a:rPr dirty="0" sz="1400" spc="-45">
                <a:solidFill>
                  <a:srgbClr val="52576B"/>
                </a:solidFill>
                <a:latin typeface="Lucida Sans"/>
                <a:cs typeface="Lucida Sans"/>
              </a:rPr>
              <a:t>df.info()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617423" y="2776080"/>
            <a:ext cx="32258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52576B"/>
                </a:solidFill>
                <a:latin typeface="Arial"/>
                <a:cs typeface="Arial"/>
              </a:rPr>
              <a:t>and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976163" y="2733078"/>
            <a:ext cx="857250" cy="27940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5524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34"/>
              </a:spcBef>
            </a:pPr>
            <a:r>
              <a:rPr dirty="0" sz="1400" spc="-40">
                <a:solidFill>
                  <a:srgbClr val="52576B"/>
                </a:solidFill>
                <a:latin typeface="Lucida Sans"/>
                <a:cs typeface="Lucida Sans"/>
              </a:rPr>
              <a:t>.describe()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869820" y="2776080"/>
            <a:ext cx="7467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52576B"/>
                </a:solidFill>
                <a:latin typeface="Arial"/>
                <a:cs typeface="Arial"/>
              </a:rPr>
              <a:t>providing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577381" y="3062059"/>
            <a:ext cx="303657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initial</a:t>
            </a:r>
            <a:r>
              <a:rPr dirty="0" sz="140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structural</a:t>
            </a:r>
            <a:r>
              <a:rPr dirty="0" sz="1400" spc="-2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and</a:t>
            </a:r>
            <a:r>
              <a:rPr dirty="0" sz="1400" spc="-2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statistical</a:t>
            </a:r>
            <a:r>
              <a:rPr dirty="0" sz="1400" spc="-2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52576B"/>
                </a:solidFill>
                <a:latin typeface="Arial"/>
                <a:cs typeface="Arial"/>
              </a:rPr>
              <a:t>insights.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6982307" y="3487940"/>
            <a:ext cx="666115" cy="2893695"/>
            <a:chOff x="6982307" y="3487940"/>
            <a:chExt cx="666115" cy="2893695"/>
          </a:xfrm>
        </p:grpSpPr>
        <p:sp>
          <p:nvSpPr>
            <p:cNvPr id="14" name="object 14" descr=""/>
            <p:cNvSpPr/>
            <p:nvPr/>
          </p:nvSpPr>
          <p:spPr>
            <a:xfrm>
              <a:off x="7292340" y="3543185"/>
              <a:ext cx="356235" cy="22860"/>
            </a:xfrm>
            <a:custGeom>
              <a:avLst/>
              <a:gdLst/>
              <a:ahLst/>
              <a:cxnLst/>
              <a:rect l="l" t="t" r="r" b="b"/>
              <a:pathLst>
                <a:path w="356234" h="22860">
                  <a:moveTo>
                    <a:pt x="350598" y="0"/>
                  </a:moveTo>
                  <a:lnTo>
                    <a:pt x="5159" y="0"/>
                  </a:lnTo>
                  <a:lnTo>
                    <a:pt x="0" y="5156"/>
                  </a:lnTo>
                  <a:lnTo>
                    <a:pt x="0" y="11429"/>
                  </a:lnTo>
                  <a:lnTo>
                    <a:pt x="0" y="17703"/>
                  </a:lnTo>
                  <a:lnTo>
                    <a:pt x="5159" y="22859"/>
                  </a:lnTo>
                  <a:lnTo>
                    <a:pt x="350598" y="22859"/>
                  </a:lnTo>
                  <a:lnTo>
                    <a:pt x="355758" y="17703"/>
                  </a:lnTo>
                  <a:lnTo>
                    <a:pt x="355758" y="5156"/>
                  </a:lnTo>
                  <a:lnTo>
                    <a:pt x="350598" y="0"/>
                  </a:lnTo>
                  <a:close/>
                </a:path>
              </a:pathLst>
            </a:custGeom>
            <a:solidFill>
              <a:srgbClr val="C7C9C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48525" y="3487940"/>
              <a:ext cx="133350" cy="133350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6982307" y="4463173"/>
              <a:ext cx="356235" cy="22860"/>
            </a:xfrm>
            <a:custGeom>
              <a:avLst/>
              <a:gdLst/>
              <a:ahLst/>
              <a:cxnLst/>
              <a:rect l="l" t="t" r="r" b="b"/>
              <a:pathLst>
                <a:path w="356234" h="22860">
                  <a:moveTo>
                    <a:pt x="350598" y="0"/>
                  </a:moveTo>
                  <a:lnTo>
                    <a:pt x="5159" y="0"/>
                  </a:lnTo>
                  <a:lnTo>
                    <a:pt x="0" y="5156"/>
                  </a:lnTo>
                  <a:lnTo>
                    <a:pt x="0" y="11429"/>
                  </a:lnTo>
                  <a:lnTo>
                    <a:pt x="0" y="17703"/>
                  </a:lnTo>
                  <a:lnTo>
                    <a:pt x="5159" y="22859"/>
                  </a:lnTo>
                  <a:lnTo>
                    <a:pt x="350598" y="22859"/>
                  </a:lnTo>
                  <a:lnTo>
                    <a:pt x="355758" y="17703"/>
                  </a:lnTo>
                  <a:lnTo>
                    <a:pt x="355758" y="5156"/>
                  </a:lnTo>
                  <a:lnTo>
                    <a:pt x="350598" y="0"/>
                  </a:lnTo>
                  <a:close/>
                </a:path>
              </a:pathLst>
            </a:custGeom>
            <a:solidFill>
              <a:srgbClr val="C7C9C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48525" y="4407928"/>
              <a:ext cx="133350" cy="133350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7292340" y="5383174"/>
              <a:ext cx="356235" cy="22860"/>
            </a:xfrm>
            <a:custGeom>
              <a:avLst/>
              <a:gdLst/>
              <a:ahLst/>
              <a:cxnLst/>
              <a:rect l="l" t="t" r="r" b="b"/>
              <a:pathLst>
                <a:path w="356234" h="22860">
                  <a:moveTo>
                    <a:pt x="350598" y="0"/>
                  </a:moveTo>
                  <a:lnTo>
                    <a:pt x="5159" y="0"/>
                  </a:lnTo>
                  <a:lnTo>
                    <a:pt x="0" y="5156"/>
                  </a:lnTo>
                  <a:lnTo>
                    <a:pt x="0" y="11429"/>
                  </a:lnTo>
                  <a:lnTo>
                    <a:pt x="0" y="17703"/>
                  </a:lnTo>
                  <a:lnTo>
                    <a:pt x="5159" y="22859"/>
                  </a:lnTo>
                  <a:lnTo>
                    <a:pt x="350598" y="22859"/>
                  </a:lnTo>
                  <a:lnTo>
                    <a:pt x="355758" y="17703"/>
                  </a:lnTo>
                  <a:lnTo>
                    <a:pt x="355758" y="5156"/>
                  </a:lnTo>
                  <a:lnTo>
                    <a:pt x="350598" y="0"/>
                  </a:lnTo>
                  <a:close/>
                </a:path>
              </a:pathLst>
            </a:custGeom>
            <a:solidFill>
              <a:srgbClr val="C7C9C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48525" y="5327929"/>
              <a:ext cx="133350" cy="133350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6982307" y="6303174"/>
              <a:ext cx="356235" cy="22860"/>
            </a:xfrm>
            <a:custGeom>
              <a:avLst/>
              <a:gdLst/>
              <a:ahLst/>
              <a:cxnLst/>
              <a:rect l="l" t="t" r="r" b="b"/>
              <a:pathLst>
                <a:path w="356234" h="22860">
                  <a:moveTo>
                    <a:pt x="350598" y="0"/>
                  </a:moveTo>
                  <a:lnTo>
                    <a:pt x="5159" y="0"/>
                  </a:lnTo>
                  <a:lnTo>
                    <a:pt x="0" y="5156"/>
                  </a:lnTo>
                  <a:lnTo>
                    <a:pt x="0" y="11429"/>
                  </a:lnTo>
                  <a:lnTo>
                    <a:pt x="0" y="17703"/>
                  </a:lnTo>
                  <a:lnTo>
                    <a:pt x="5159" y="22859"/>
                  </a:lnTo>
                  <a:lnTo>
                    <a:pt x="350598" y="22859"/>
                  </a:lnTo>
                  <a:lnTo>
                    <a:pt x="355758" y="17703"/>
                  </a:lnTo>
                  <a:lnTo>
                    <a:pt x="355758" y="5156"/>
                  </a:lnTo>
                  <a:lnTo>
                    <a:pt x="350598" y="0"/>
                  </a:lnTo>
                  <a:close/>
                </a:path>
              </a:pathLst>
            </a:custGeom>
            <a:solidFill>
              <a:srgbClr val="C7C9C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48525" y="6247930"/>
              <a:ext cx="133350" cy="133350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8014017" y="3404615"/>
            <a:ext cx="5605780" cy="9639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Handling</a:t>
            </a:r>
            <a:r>
              <a:rPr dirty="0" sz="1750" spc="-10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Missing</a:t>
            </a:r>
            <a:r>
              <a:rPr dirty="0" sz="1750" spc="-9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Values</a:t>
            </a:r>
            <a:endParaRPr sz="1750">
              <a:latin typeface="Arial"/>
              <a:cs typeface="Arial"/>
            </a:endParaRPr>
          </a:p>
          <a:p>
            <a:pPr marL="12700" marR="5080">
              <a:lnSpc>
                <a:spcPct val="131000"/>
              </a:lnSpc>
              <a:spcBef>
                <a:spcPts val="885"/>
              </a:spcBef>
            </a:pP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Missing</a:t>
            </a:r>
            <a:r>
              <a:rPr dirty="0" sz="140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'Review</a:t>
            </a:r>
            <a:r>
              <a:rPr dirty="0" sz="140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Rating'</a:t>
            </a:r>
            <a:r>
              <a:rPr dirty="0" sz="140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values</a:t>
            </a:r>
            <a:r>
              <a:rPr dirty="0" sz="140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were</a:t>
            </a:r>
            <a:r>
              <a:rPr dirty="0" sz="140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imputed</a:t>
            </a:r>
            <a:r>
              <a:rPr dirty="0" sz="140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using</a:t>
            </a:r>
            <a:r>
              <a:rPr dirty="0" sz="140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the</a:t>
            </a:r>
            <a:r>
              <a:rPr dirty="0" sz="140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median</a:t>
            </a:r>
            <a:r>
              <a:rPr dirty="0" sz="140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of</a:t>
            </a:r>
            <a:r>
              <a:rPr dirty="0" sz="140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52576B"/>
                </a:solidFill>
                <a:latin typeface="Arial"/>
                <a:cs typeface="Arial"/>
              </a:rPr>
              <a:t>each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category</a:t>
            </a:r>
            <a:r>
              <a:rPr dirty="0" sz="140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to</a:t>
            </a:r>
            <a:r>
              <a:rPr dirty="0" sz="140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preserve</a:t>
            </a:r>
            <a:r>
              <a:rPr dirty="0" sz="140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data</a:t>
            </a:r>
            <a:r>
              <a:rPr dirty="0" sz="140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integrity</a:t>
            </a:r>
            <a:r>
              <a:rPr dirty="0" sz="140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and</a:t>
            </a:r>
            <a:r>
              <a:rPr dirty="0" sz="140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prevent</a:t>
            </a:r>
            <a:r>
              <a:rPr dirty="0" sz="140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52576B"/>
                </a:solidFill>
                <a:latin typeface="Arial"/>
                <a:cs typeface="Arial"/>
              </a:rPr>
              <a:t>loss.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703804" y="4324616"/>
            <a:ext cx="1911985" cy="6775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>
              <a:lnSpc>
                <a:spcPct val="100000"/>
              </a:lnSpc>
              <a:spcBef>
                <a:spcPts val="100"/>
              </a:spcBef>
            </a:pP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Standardization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for seamless </a:t>
            </a:r>
            <a:r>
              <a:rPr dirty="0" sz="1400" spc="-10">
                <a:solidFill>
                  <a:srgbClr val="52576B"/>
                </a:solidFill>
                <a:latin typeface="Arial"/>
                <a:cs typeface="Arial"/>
              </a:rPr>
              <a:t>integration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805444" y="4763350"/>
            <a:ext cx="289052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All</a:t>
            </a:r>
            <a:r>
              <a:rPr dirty="0" sz="140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column</a:t>
            </a:r>
            <a:r>
              <a:rPr dirty="0" sz="140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names</a:t>
            </a:r>
            <a:r>
              <a:rPr dirty="0" sz="140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were</a:t>
            </a:r>
            <a:r>
              <a:rPr dirty="0" sz="140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converted</a:t>
            </a:r>
            <a:r>
              <a:rPr dirty="0" sz="140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52576B"/>
                </a:solidFill>
                <a:latin typeface="Arial"/>
                <a:cs typeface="Arial"/>
              </a:rPr>
              <a:t>to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3733405" y="4720348"/>
            <a:ext cx="934085" cy="27940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5524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34"/>
              </a:spcBef>
            </a:pPr>
            <a:r>
              <a:rPr dirty="0" sz="1400" spc="-40">
                <a:solidFill>
                  <a:srgbClr val="52576B"/>
                </a:solidFill>
                <a:latin typeface="Lucida Sans"/>
                <a:cs typeface="Lucida Sans"/>
              </a:rPr>
              <a:t>snake_case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3309890" y="5049330"/>
            <a:ext cx="3303904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and</a:t>
            </a:r>
            <a:r>
              <a:rPr dirty="0" sz="1400" spc="-2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queryability</a:t>
            </a:r>
            <a:r>
              <a:rPr dirty="0" sz="140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within</a:t>
            </a:r>
            <a:r>
              <a:rPr dirty="0" sz="1400" spc="-2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the</a:t>
            </a:r>
            <a:r>
              <a:rPr dirty="0" sz="140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SQL</a:t>
            </a:r>
            <a:r>
              <a:rPr dirty="0" sz="1400" spc="-2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52576B"/>
                </a:solidFill>
                <a:latin typeface="Arial"/>
                <a:cs typeface="Arial"/>
              </a:rPr>
              <a:t>database.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8014017" y="5244604"/>
            <a:ext cx="5996940" cy="9639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Feature</a:t>
            </a:r>
            <a:r>
              <a:rPr dirty="0" sz="1750" spc="-8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Engineering</a:t>
            </a:r>
            <a:endParaRPr sz="1750">
              <a:latin typeface="Arial"/>
              <a:cs typeface="Arial"/>
            </a:endParaRPr>
          </a:p>
          <a:p>
            <a:pPr marL="12700" marR="5080">
              <a:lnSpc>
                <a:spcPct val="131000"/>
              </a:lnSpc>
              <a:spcBef>
                <a:spcPts val="885"/>
              </a:spcBef>
            </a:pP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New</a:t>
            </a:r>
            <a:r>
              <a:rPr dirty="0" sz="1400" spc="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columns</a:t>
            </a:r>
            <a:r>
              <a:rPr dirty="0" sz="1400" spc="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like</a:t>
            </a:r>
            <a:r>
              <a:rPr dirty="0" sz="1400" spc="1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'age_group'</a:t>
            </a:r>
            <a:r>
              <a:rPr dirty="0" sz="1400" spc="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and</a:t>
            </a:r>
            <a:r>
              <a:rPr dirty="0" sz="1400" spc="1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52576B"/>
                </a:solidFill>
                <a:latin typeface="Arial"/>
                <a:cs typeface="Arial"/>
              </a:rPr>
              <a:t>'purchase_frequency_days'</a:t>
            </a:r>
            <a:r>
              <a:rPr dirty="0" sz="1400" spc="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were</a:t>
            </a:r>
            <a:r>
              <a:rPr dirty="0" sz="1400" spc="1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52576B"/>
                </a:solidFill>
                <a:latin typeface="Arial"/>
                <a:cs typeface="Arial"/>
              </a:rPr>
              <a:t>created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to</a:t>
            </a:r>
            <a:r>
              <a:rPr dirty="0" sz="140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enable</a:t>
            </a:r>
            <a:r>
              <a:rPr dirty="0" sz="140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deeper,</a:t>
            </a:r>
            <a:r>
              <a:rPr dirty="0" sz="140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more</a:t>
            </a:r>
            <a:r>
              <a:rPr dirty="0" sz="140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segmented</a:t>
            </a:r>
            <a:r>
              <a:rPr dirty="0" sz="140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52576B"/>
                </a:solidFill>
                <a:latin typeface="Arial"/>
                <a:cs typeface="Arial"/>
              </a:rPr>
              <a:t>analysis.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076990" y="6164605"/>
            <a:ext cx="5537835" cy="9639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63165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Data</a:t>
            </a:r>
            <a:r>
              <a:rPr dirty="0" sz="1750" spc="-2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Consistency</a:t>
            </a:r>
            <a:r>
              <a:rPr dirty="0" sz="17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&amp;</a:t>
            </a:r>
            <a:r>
              <a:rPr dirty="0" sz="17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Integration</a:t>
            </a:r>
            <a:endParaRPr sz="1750">
              <a:latin typeface="Arial"/>
              <a:cs typeface="Arial"/>
            </a:endParaRPr>
          </a:p>
          <a:p>
            <a:pPr marL="1307465" marR="5080" indent="-1295400">
              <a:lnSpc>
                <a:spcPct val="131000"/>
              </a:lnSpc>
              <a:spcBef>
                <a:spcPts val="885"/>
              </a:spcBef>
            </a:pP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Redundant</a:t>
            </a:r>
            <a:r>
              <a:rPr dirty="0" sz="140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'promo_code_used'</a:t>
            </a:r>
            <a:r>
              <a:rPr dirty="0" sz="1400" spc="-2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column</a:t>
            </a:r>
            <a:r>
              <a:rPr dirty="0" sz="140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was</a:t>
            </a:r>
            <a:r>
              <a:rPr dirty="0" sz="1400" spc="-2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dropped,</a:t>
            </a:r>
            <a:r>
              <a:rPr dirty="0" sz="1400" spc="-2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and</a:t>
            </a:r>
            <a:r>
              <a:rPr dirty="0" sz="140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the</a:t>
            </a:r>
            <a:r>
              <a:rPr dirty="0" sz="1400" spc="-2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52576B"/>
                </a:solidFill>
                <a:latin typeface="Arial"/>
                <a:cs typeface="Arial"/>
              </a:rPr>
              <a:t>cleaned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DataFrame</a:t>
            </a:r>
            <a:r>
              <a:rPr dirty="0" sz="140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was</a:t>
            </a:r>
            <a:r>
              <a:rPr dirty="0" sz="1400" spc="-1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loaded</a:t>
            </a:r>
            <a:r>
              <a:rPr dirty="0" sz="140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into</a:t>
            </a:r>
            <a:r>
              <a:rPr dirty="0" sz="1400" spc="-1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MySQL</a:t>
            </a:r>
            <a:r>
              <a:rPr dirty="0" sz="140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for</a:t>
            </a:r>
            <a:r>
              <a:rPr dirty="0" sz="1400" spc="-1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52576B"/>
                </a:solidFill>
                <a:latin typeface="Arial"/>
                <a:cs typeface="Arial"/>
              </a:rPr>
              <a:t>SQL</a:t>
            </a:r>
            <a:r>
              <a:rPr dirty="0" sz="1400" spc="-10">
                <a:solidFill>
                  <a:srgbClr val="52576B"/>
                </a:solidFill>
                <a:latin typeface="Arial"/>
                <a:cs typeface="Arial"/>
              </a:rPr>
              <a:t> analysis.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70968" y="611155"/>
            <a:ext cx="421640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solidFill>
                  <a:srgbClr val="373A47"/>
                </a:solidFill>
                <a:latin typeface="Arial"/>
                <a:cs typeface="Arial"/>
              </a:rPr>
              <a:t>SQL</a:t>
            </a:r>
            <a:r>
              <a:rPr dirty="0" sz="2200" spc="-25">
                <a:solidFill>
                  <a:srgbClr val="373A47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373A47"/>
                </a:solidFill>
                <a:latin typeface="Arial"/>
                <a:cs typeface="Arial"/>
              </a:rPr>
              <a:t>DATA</a:t>
            </a:r>
            <a:r>
              <a:rPr dirty="0" sz="2200" spc="-20">
                <a:solidFill>
                  <a:srgbClr val="373A47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373A47"/>
                </a:solidFill>
                <a:latin typeface="Arial"/>
                <a:cs typeface="Arial"/>
              </a:rPr>
              <a:t>ANALYSIS</a:t>
            </a:r>
            <a:r>
              <a:rPr dirty="0" sz="2200" spc="-20">
                <a:solidFill>
                  <a:srgbClr val="373A47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373A47"/>
                </a:solidFill>
                <a:latin typeface="Arial"/>
                <a:cs typeface="Arial"/>
              </a:rPr>
              <a:t>RESULTS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0968" y="1058561"/>
            <a:ext cx="933640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65705" algn="l"/>
                <a:tab pos="4326255" algn="l"/>
                <a:tab pos="6718300" algn="l"/>
              </a:tabLst>
            </a:pPr>
            <a:r>
              <a:rPr dirty="0" sz="4400" spc="-10"/>
              <a:t>Unveiling</a:t>
            </a:r>
            <a:r>
              <a:rPr dirty="0" sz="4400"/>
              <a:t>	</a:t>
            </a:r>
            <a:r>
              <a:rPr dirty="0" sz="4400" spc="-10"/>
              <a:t>Critical</a:t>
            </a:r>
            <a:r>
              <a:rPr dirty="0" sz="4400"/>
              <a:t>	</a:t>
            </a:r>
            <a:r>
              <a:rPr dirty="0" sz="4400" spc="-10"/>
              <a:t>Revenue</a:t>
            </a:r>
            <a:r>
              <a:rPr dirty="0" sz="4400"/>
              <a:t>	</a:t>
            </a:r>
            <a:r>
              <a:rPr dirty="0" sz="4400" spc="-10"/>
              <a:t>Disparities</a:t>
            </a:r>
            <a:endParaRPr sz="4400"/>
          </a:p>
        </p:txBody>
      </p:sp>
      <p:sp>
        <p:nvSpPr>
          <p:cNvPr id="4" name="object 4" descr=""/>
          <p:cNvSpPr txBox="1"/>
          <p:nvPr/>
        </p:nvSpPr>
        <p:spPr>
          <a:xfrm>
            <a:off x="770968" y="2162238"/>
            <a:ext cx="12359640" cy="2621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Our</a:t>
            </a:r>
            <a:r>
              <a:rPr dirty="0" sz="17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SQL</a:t>
            </a:r>
            <a:r>
              <a:rPr dirty="0" sz="175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analysis</a:t>
            </a:r>
            <a:r>
              <a:rPr dirty="0" sz="17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uncovered</a:t>
            </a:r>
            <a:r>
              <a:rPr dirty="0" sz="175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a</a:t>
            </a:r>
            <a:r>
              <a:rPr dirty="0" sz="17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significant</a:t>
            </a:r>
            <a:r>
              <a:rPr dirty="0" sz="175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gender</a:t>
            </a:r>
            <a:r>
              <a:rPr dirty="0" sz="175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gap</a:t>
            </a:r>
            <a:r>
              <a:rPr dirty="0" sz="17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in</a:t>
            </a:r>
            <a:r>
              <a:rPr dirty="0" sz="175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revenue</a:t>
            </a:r>
            <a:r>
              <a:rPr dirty="0" sz="17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contribution,</a:t>
            </a:r>
            <a:r>
              <a:rPr dirty="0" sz="175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highlighting</a:t>
            </a:r>
            <a:r>
              <a:rPr dirty="0" sz="175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key</a:t>
            </a:r>
            <a:r>
              <a:rPr dirty="0" sz="17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areas</a:t>
            </a:r>
            <a:r>
              <a:rPr dirty="0" sz="175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for</a:t>
            </a:r>
            <a:r>
              <a:rPr dirty="0" sz="17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strategic</a:t>
            </a:r>
            <a:r>
              <a:rPr dirty="0" sz="175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intervention.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14"/>
              </a:spcBef>
            </a:pP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3500">
                <a:solidFill>
                  <a:srgbClr val="373A47"/>
                </a:solidFill>
                <a:latin typeface="Arial"/>
                <a:cs typeface="Arial"/>
              </a:rPr>
              <a:t>Revenue</a:t>
            </a:r>
            <a:r>
              <a:rPr dirty="0" sz="3500" spc="-85">
                <a:solidFill>
                  <a:srgbClr val="373A47"/>
                </a:solidFill>
                <a:latin typeface="Arial"/>
                <a:cs typeface="Arial"/>
              </a:rPr>
              <a:t> </a:t>
            </a:r>
            <a:r>
              <a:rPr dirty="0" sz="3500">
                <a:solidFill>
                  <a:srgbClr val="373A47"/>
                </a:solidFill>
                <a:latin typeface="Arial"/>
                <a:cs typeface="Arial"/>
              </a:rPr>
              <a:t>Disparity</a:t>
            </a:r>
            <a:r>
              <a:rPr dirty="0" sz="3500" spc="-80">
                <a:solidFill>
                  <a:srgbClr val="373A47"/>
                </a:solidFill>
                <a:latin typeface="Arial"/>
                <a:cs typeface="Arial"/>
              </a:rPr>
              <a:t> </a:t>
            </a:r>
            <a:r>
              <a:rPr dirty="0" sz="3500">
                <a:solidFill>
                  <a:srgbClr val="373A47"/>
                </a:solidFill>
                <a:latin typeface="Arial"/>
                <a:cs typeface="Arial"/>
              </a:rPr>
              <a:t>by</a:t>
            </a:r>
            <a:r>
              <a:rPr dirty="0" sz="3500" spc="-80">
                <a:solidFill>
                  <a:srgbClr val="373A47"/>
                </a:solidFill>
                <a:latin typeface="Arial"/>
                <a:cs typeface="Arial"/>
              </a:rPr>
              <a:t> </a:t>
            </a:r>
            <a:r>
              <a:rPr dirty="0" sz="3500" spc="-10">
                <a:solidFill>
                  <a:srgbClr val="373A47"/>
                </a:solidFill>
                <a:latin typeface="Arial"/>
                <a:cs typeface="Arial"/>
              </a:rPr>
              <a:t>Gender</a:t>
            </a:r>
            <a:endParaRPr sz="3500">
              <a:latin typeface="Arial"/>
              <a:cs typeface="Arial"/>
            </a:endParaRPr>
          </a:p>
          <a:p>
            <a:pPr marL="12700" marR="5225415">
              <a:lnSpc>
                <a:spcPct val="133300"/>
              </a:lnSpc>
              <a:spcBef>
                <a:spcPts val="1810"/>
              </a:spcBef>
            </a:pP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There</a:t>
            </a:r>
            <a:r>
              <a:rPr dirty="0" sz="1750" spc="-6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is</a:t>
            </a:r>
            <a:r>
              <a:rPr dirty="0" sz="1750" spc="-6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a</a:t>
            </a:r>
            <a:r>
              <a:rPr dirty="0" sz="1750" spc="-6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substantial</a:t>
            </a:r>
            <a:r>
              <a:rPr dirty="0" sz="1750" spc="-6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difference</a:t>
            </a:r>
            <a:r>
              <a:rPr dirty="0" sz="1750" spc="-6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in</a:t>
            </a:r>
            <a:r>
              <a:rPr dirty="0" sz="1750" spc="-6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revenue</a:t>
            </a:r>
            <a:r>
              <a:rPr dirty="0" sz="1750" spc="-6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generated</a:t>
            </a:r>
            <a:r>
              <a:rPr dirty="0" sz="1750" spc="-6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by</a:t>
            </a:r>
            <a:r>
              <a:rPr dirty="0" sz="1750" spc="-6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gender.</a:t>
            </a:r>
            <a:r>
              <a:rPr dirty="0" sz="1750" spc="-6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52576B"/>
                </a:solidFill>
                <a:latin typeface="Arial"/>
                <a:cs typeface="Arial"/>
              </a:rPr>
              <a:t>Male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customers</a:t>
            </a:r>
            <a:r>
              <a:rPr dirty="0" sz="1750" spc="-8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contribute</a:t>
            </a:r>
            <a:r>
              <a:rPr dirty="0" sz="1750" spc="-7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more</a:t>
            </a:r>
            <a:r>
              <a:rPr dirty="0" sz="1750" spc="-7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than</a:t>
            </a:r>
            <a:r>
              <a:rPr dirty="0" sz="1750" spc="-7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double</a:t>
            </a:r>
            <a:r>
              <a:rPr dirty="0" sz="1750" spc="-7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the</a:t>
            </a:r>
            <a:r>
              <a:rPr dirty="0" sz="1750" spc="-7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revenue</a:t>
            </a:r>
            <a:r>
              <a:rPr dirty="0" sz="1750" spc="-7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compared</a:t>
            </a:r>
            <a:r>
              <a:rPr dirty="0" sz="1750" spc="-7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to</a:t>
            </a:r>
            <a:r>
              <a:rPr dirty="0" sz="1750" spc="-7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female customers.</a:t>
            </a:r>
            <a:endParaRPr sz="17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70968" y="5055933"/>
            <a:ext cx="3817620" cy="728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b="1">
                <a:solidFill>
                  <a:srgbClr val="52576B"/>
                </a:solidFill>
                <a:latin typeface="Arial"/>
                <a:cs typeface="Arial"/>
              </a:rPr>
              <a:t>Male</a:t>
            </a:r>
            <a:r>
              <a:rPr dirty="0" sz="1750" spc="-75" b="1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b="1">
                <a:solidFill>
                  <a:srgbClr val="52576B"/>
                </a:solidFill>
                <a:latin typeface="Arial"/>
                <a:cs typeface="Arial"/>
              </a:rPr>
              <a:t>Customer</a:t>
            </a:r>
            <a:r>
              <a:rPr dirty="0" sz="1750" spc="-75" b="1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b="1">
                <a:solidFill>
                  <a:srgbClr val="52576B"/>
                </a:solidFill>
                <a:latin typeface="Arial"/>
                <a:cs typeface="Arial"/>
              </a:rPr>
              <a:t>Revenue:</a:t>
            </a:r>
            <a:r>
              <a:rPr dirty="0" sz="1750" spc="-65" b="1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$157,000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dirty="0" sz="1750" b="1">
                <a:solidFill>
                  <a:srgbClr val="52576B"/>
                </a:solidFill>
                <a:latin typeface="Arial"/>
                <a:cs typeface="Arial"/>
              </a:rPr>
              <a:t>Female</a:t>
            </a:r>
            <a:r>
              <a:rPr dirty="0" sz="1750" spc="-70" b="1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b="1">
                <a:solidFill>
                  <a:srgbClr val="52576B"/>
                </a:solidFill>
                <a:latin typeface="Arial"/>
                <a:cs typeface="Arial"/>
              </a:rPr>
              <a:t>Customer</a:t>
            </a:r>
            <a:r>
              <a:rPr dirty="0" sz="1750" spc="-70" b="1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b="1">
                <a:solidFill>
                  <a:srgbClr val="52576B"/>
                </a:solidFill>
                <a:latin typeface="Arial"/>
                <a:cs typeface="Arial"/>
              </a:rPr>
              <a:t>Revenue:</a:t>
            </a:r>
            <a:r>
              <a:rPr dirty="0" sz="1750" spc="-55" b="1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$75,000</a:t>
            </a:r>
            <a:endParaRPr sz="17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70968" y="5963348"/>
            <a:ext cx="7273290" cy="144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dirty="0" sz="1750" b="1">
                <a:solidFill>
                  <a:srgbClr val="52576B"/>
                </a:solidFill>
                <a:latin typeface="Arial"/>
                <a:cs typeface="Arial"/>
              </a:rPr>
              <a:t>Why</a:t>
            </a:r>
            <a:r>
              <a:rPr dirty="0" sz="1750" spc="-55" b="1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b="1">
                <a:solidFill>
                  <a:srgbClr val="52576B"/>
                </a:solidFill>
                <a:latin typeface="Arial"/>
                <a:cs typeface="Arial"/>
              </a:rPr>
              <a:t>This</a:t>
            </a:r>
            <a:r>
              <a:rPr dirty="0" sz="1750" spc="-55" b="1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b="1">
                <a:solidFill>
                  <a:srgbClr val="52576B"/>
                </a:solidFill>
                <a:latin typeface="Arial"/>
                <a:cs typeface="Arial"/>
              </a:rPr>
              <a:t>Matters:</a:t>
            </a:r>
            <a:r>
              <a:rPr dirty="0" sz="1750" spc="-50" b="1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This</a:t>
            </a:r>
            <a:r>
              <a:rPr dirty="0" sz="17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suggests</a:t>
            </a:r>
            <a:r>
              <a:rPr dirty="0" sz="17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that</a:t>
            </a:r>
            <a:r>
              <a:rPr dirty="0" sz="17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either</a:t>
            </a:r>
            <a:r>
              <a:rPr dirty="0" sz="17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our</a:t>
            </a:r>
            <a:r>
              <a:rPr dirty="0" sz="17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product</a:t>
            </a:r>
            <a:r>
              <a:rPr dirty="0" sz="17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offerings</a:t>
            </a:r>
            <a:r>
              <a:rPr dirty="0" sz="17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heavily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cater</a:t>
            </a:r>
            <a:r>
              <a:rPr dirty="0" sz="1750" spc="-6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to</a:t>
            </a:r>
            <a:r>
              <a:rPr dirty="0" sz="17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a</a:t>
            </a:r>
            <a:r>
              <a:rPr dirty="0" sz="1750" spc="-6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male</a:t>
            </a:r>
            <a:r>
              <a:rPr dirty="0" sz="17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audience,</a:t>
            </a:r>
            <a:r>
              <a:rPr dirty="0" sz="17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or</a:t>
            </a:r>
            <a:r>
              <a:rPr dirty="0" sz="1750" spc="-6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our</a:t>
            </a:r>
            <a:r>
              <a:rPr dirty="0" sz="17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marketing</a:t>
            </a:r>
            <a:r>
              <a:rPr dirty="0" sz="17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efforts</a:t>
            </a:r>
            <a:r>
              <a:rPr dirty="0" sz="1750" spc="-6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targeting</a:t>
            </a:r>
            <a:r>
              <a:rPr dirty="0" sz="17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women</a:t>
            </a:r>
            <a:r>
              <a:rPr dirty="0" sz="1750" spc="-6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25">
                <a:solidFill>
                  <a:srgbClr val="52576B"/>
                </a:solidFill>
                <a:latin typeface="Arial"/>
                <a:cs typeface="Arial"/>
              </a:rPr>
              <a:t>are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significantly</a:t>
            </a:r>
            <a:r>
              <a:rPr dirty="0" sz="175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underperforming.</a:t>
            </a:r>
            <a:r>
              <a:rPr dirty="0" sz="175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Understanding</a:t>
            </a:r>
            <a:r>
              <a:rPr dirty="0" sz="175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this</a:t>
            </a:r>
            <a:r>
              <a:rPr dirty="0" sz="175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disparity</a:t>
            </a:r>
            <a:r>
              <a:rPr dirty="0" sz="175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is</a:t>
            </a:r>
            <a:r>
              <a:rPr dirty="0" sz="175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crucial</a:t>
            </a:r>
            <a:r>
              <a:rPr dirty="0" sz="17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25">
                <a:solidFill>
                  <a:srgbClr val="52576B"/>
                </a:solidFill>
                <a:latin typeface="Arial"/>
                <a:cs typeface="Arial"/>
              </a:rPr>
              <a:t>for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refining</a:t>
            </a:r>
            <a:r>
              <a:rPr dirty="0" sz="1750" spc="-7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product</a:t>
            </a:r>
            <a:r>
              <a:rPr dirty="0" sz="1750" spc="-7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development</a:t>
            </a:r>
            <a:r>
              <a:rPr dirty="0" sz="1750" spc="-7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and</a:t>
            </a:r>
            <a:r>
              <a:rPr dirty="0" sz="1750" spc="-7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52576B"/>
                </a:solidFill>
                <a:latin typeface="Arial"/>
                <a:cs typeface="Arial"/>
              </a:rPr>
              <a:t>marketing</a:t>
            </a:r>
            <a:r>
              <a:rPr dirty="0" sz="1750" spc="-7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strategies.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8956840" y="2952635"/>
            <a:ext cx="4897755" cy="2742565"/>
            <a:chOff x="8956840" y="2952635"/>
            <a:chExt cx="4897755" cy="2742565"/>
          </a:xfrm>
        </p:grpSpPr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56840" y="2952635"/>
              <a:ext cx="4897399" cy="248804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58348" y="5471160"/>
              <a:ext cx="223837" cy="223837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10830445" y="5417502"/>
            <a:ext cx="507365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20">
                <a:solidFill>
                  <a:srgbClr val="52576B"/>
                </a:solidFill>
                <a:latin typeface="Arial"/>
                <a:cs typeface="Arial"/>
              </a:rPr>
              <a:t>Male</a:t>
            </a:r>
            <a:endParaRPr sz="1750">
              <a:latin typeface="Arial"/>
              <a:cs typeface="Arial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81675" y="5471159"/>
            <a:ext cx="223837" cy="223837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11753774" y="5417502"/>
            <a:ext cx="766445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10">
                <a:solidFill>
                  <a:srgbClr val="52576B"/>
                </a:solidFill>
                <a:latin typeface="Arial"/>
                <a:cs typeface="Arial"/>
              </a:rPr>
              <a:t>Female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22273" y="574480"/>
            <a:ext cx="3930650" cy="337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>
                <a:solidFill>
                  <a:srgbClr val="373A47"/>
                </a:solidFill>
                <a:latin typeface="Arial"/>
                <a:cs typeface="Arial"/>
              </a:rPr>
              <a:t>SQL</a:t>
            </a:r>
            <a:r>
              <a:rPr dirty="0" sz="2050" spc="-15">
                <a:solidFill>
                  <a:srgbClr val="373A47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373A47"/>
                </a:solidFill>
                <a:latin typeface="Arial"/>
                <a:cs typeface="Arial"/>
              </a:rPr>
              <a:t>DATA</a:t>
            </a:r>
            <a:r>
              <a:rPr dirty="0" sz="2050" spc="-10">
                <a:solidFill>
                  <a:srgbClr val="373A47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373A47"/>
                </a:solidFill>
                <a:latin typeface="Arial"/>
                <a:cs typeface="Arial"/>
              </a:rPr>
              <a:t>ANALYSIS</a:t>
            </a:r>
            <a:r>
              <a:rPr dirty="0" sz="2050" spc="-15">
                <a:solidFill>
                  <a:srgbClr val="373A47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373A47"/>
                </a:solidFill>
                <a:latin typeface="Arial"/>
                <a:cs typeface="Arial"/>
              </a:rPr>
              <a:t>RESULTS</a:t>
            </a:r>
            <a:endParaRPr sz="20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22273" y="998837"/>
            <a:ext cx="10523220" cy="650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54100" algn="l"/>
                <a:tab pos="2846705" algn="l"/>
                <a:tab pos="5072380" algn="l"/>
                <a:tab pos="5564505" algn="l"/>
                <a:tab pos="9034780" algn="l"/>
              </a:tabLst>
            </a:pPr>
            <a:r>
              <a:rPr dirty="0" sz="4100" spc="-25"/>
              <a:t>The</a:t>
            </a:r>
            <a:r>
              <a:rPr dirty="0" sz="4100"/>
              <a:t>	</a:t>
            </a:r>
            <a:r>
              <a:rPr dirty="0" sz="4100" spc="-10"/>
              <a:t>Loyalty</a:t>
            </a:r>
            <a:r>
              <a:rPr dirty="0" sz="4100"/>
              <a:t>	</a:t>
            </a:r>
            <a:r>
              <a:rPr dirty="0" sz="4100" spc="-10"/>
              <a:t>Paradox:</a:t>
            </a:r>
            <a:r>
              <a:rPr dirty="0" sz="4100"/>
              <a:t>	</a:t>
            </a:r>
            <a:r>
              <a:rPr dirty="0" sz="4100" spc="-50"/>
              <a:t>A</a:t>
            </a:r>
            <a:r>
              <a:rPr dirty="0" sz="4100"/>
              <a:t>	</a:t>
            </a:r>
            <a:r>
              <a:rPr dirty="0" sz="4100" spc="-10"/>
              <a:t>Double-Edged</a:t>
            </a:r>
            <a:r>
              <a:rPr dirty="0" sz="4100"/>
              <a:t>	</a:t>
            </a:r>
            <a:r>
              <a:rPr dirty="0" sz="4100" spc="-10"/>
              <a:t>Sword</a:t>
            </a:r>
            <a:endParaRPr sz="4100"/>
          </a:p>
        </p:txBody>
      </p:sp>
      <p:sp>
        <p:nvSpPr>
          <p:cNvPr id="4" name="object 4" descr=""/>
          <p:cNvSpPr txBox="1"/>
          <p:nvPr/>
        </p:nvSpPr>
        <p:spPr>
          <a:xfrm>
            <a:off x="722273" y="1947392"/>
            <a:ext cx="12084050" cy="685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1300"/>
              </a:lnSpc>
              <a:spcBef>
                <a:spcPts val="100"/>
              </a:spcBef>
            </a:pP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While</a:t>
            </a:r>
            <a:r>
              <a:rPr dirty="0" sz="1650" spc="-2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excellent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customer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retention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is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evident,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the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high</a:t>
            </a:r>
            <a:r>
              <a:rPr dirty="0" sz="1650" spc="-2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proportion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of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loyal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customers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points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to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potential</a:t>
            </a:r>
            <a:r>
              <a:rPr dirty="0" sz="1650" spc="-2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stagnation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in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new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52576B"/>
                </a:solidFill>
                <a:latin typeface="Arial"/>
                <a:cs typeface="Arial"/>
              </a:rPr>
              <a:t>customer acquisition.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712113" y="2861310"/>
            <a:ext cx="4281170" cy="3418204"/>
            <a:chOff x="712113" y="2861310"/>
            <a:chExt cx="4281170" cy="3418204"/>
          </a:xfrm>
        </p:grpSpPr>
        <p:sp>
          <p:nvSpPr>
            <p:cNvPr id="6" name="object 6" descr=""/>
            <p:cNvSpPr/>
            <p:nvPr/>
          </p:nvSpPr>
          <p:spPr>
            <a:xfrm>
              <a:off x="734973" y="2872740"/>
              <a:ext cx="4246880" cy="3395345"/>
            </a:xfrm>
            <a:custGeom>
              <a:avLst/>
              <a:gdLst/>
              <a:ahLst/>
              <a:cxnLst/>
              <a:rect l="l" t="t" r="r" b="b"/>
              <a:pathLst>
                <a:path w="4246880" h="3395345">
                  <a:moveTo>
                    <a:pt x="0" y="109727"/>
                  </a:moveTo>
                  <a:lnTo>
                    <a:pt x="8679" y="67186"/>
                  </a:lnTo>
                  <a:lnTo>
                    <a:pt x="32289" y="32289"/>
                  </a:lnTo>
                  <a:lnTo>
                    <a:pt x="67186" y="8679"/>
                  </a:lnTo>
                  <a:lnTo>
                    <a:pt x="109724" y="0"/>
                  </a:lnTo>
                  <a:lnTo>
                    <a:pt x="4137113" y="0"/>
                  </a:lnTo>
                  <a:lnTo>
                    <a:pt x="4179654" y="8679"/>
                  </a:lnTo>
                  <a:lnTo>
                    <a:pt x="4214552" y="32289"/>
                  </a:lnTo>
                  <a:lnTo>
                    <a:pt x="4238162" y="67186"/>
                  </a:lnTo>
                  <a:lnTo>
                    <a:pt x="4246841" y="109727"/>
                  </a:lnTo>
                  <a:lnTo>
                    <a:pt x="4246841" y="3285223"/>
                  </a:lnTo>
                  <a:lnTo>
                    <a:pt x="4238162" y="3327764"/>
                  </a:lnTo>
                  <a:lnTo>
                    <a:pt x="4214552" y="3362661"/>
                  </a:lnTo>
                  <a:lnTo>
                    <a:pt x="4179654" y="3386271"/>
                  </a:lnTo>
                  <a:lnTo>
                    <a:pt x="4137113" y="3394951"/>
                  </a:lnTo>
                  <a:lnTo>
                    <a:pt x="109724" y="3394951"/>
                  </a:lnTo>
                  <a:lnTo>
                    <a:pt x="67186" y="3386271"/>
                  </a:lnTo>
                  <a:lnTo>
                    <a:pt x="32289" y="3362661"/>
                  </a:lnTo>
                  <a:lnTo>
                    <a:pt x="8679" y="3327764"/>
                  </a:lnTo>
                  <a:lnTo>
                    <a:pt x="0" y="3285223"/>
                  </a:lnTo>
                  <a:lnTo>
                    <a:pt x="0" y="109727"/>
                  </a:lnTo>
                  <a:close/>
                </a:path>
              </a:pathLst>
            </a:custGeom>
            <a:ln w="22860">
              <a:solidFill>
                <a:srgbClr val="C7C9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12113" y="2872740"/>
              <a:ext cx="91440" cy="3395345"/>
            </a:xfrm>
            <a:custGeom>
              <a:avLst/>
              <a:gdLst/>
              <a:ahLst/>
              <a:cxnLst/>
              <a:rect l="l" t="t" r="r" b="b"/>
              <a:pathLst>
                <a:path w="91440" h="3395345">
                  <a:moveTo>
                    <a:pt x="45719" y="0"/>
                  </a:moveTo>
                  <a:lnTo>
                    <a:pt x="27994" y="3616"/>
                  </a:lnTo>
                  <a:lnTo>
                    <a:pt x="13454" y="13454"/>
                  </a:lnTo>
                  <a:lnTo>
                    <a:pt x="3616" y="27994"/>
                  </a:lnTo>
                  <a:lnTo>
                    <a:pt x="0" y="45720"/>
                  </a:lnTo>
                  <a:lnTo>
                    <a:pt x="0" y="3349231"/>
                  </a:lnTo>
                  <a:lnTo>
                    <a:pt x="3616" y="3366956"/>
                  </a:lnTo>
                  <a:lnTo>
                    <a:pt x="13454" y="3381497"/>
                  </a:lnTo>
                  <a:lnTo>
                    <a:pt x="27994" y="3391334"/>
                  </a:lnTo>
                  <a:lnTo>
                    <a:pt x="45720" y="3394951"/>
                  </a:lnTo>
                  <a:lnTo>
                    <a:pt x="63444" y="3391334"/>
                  </a:lnTo>
                  <a:lnTo>
                    <a:pt x="77985" y="3381497"/>
                  </a:lnTo>
                  <a:lnTo>
                    <a:pt x="87823" y="3366956"/>
                  </a:lnTo>
                  <a:lnTo>
                    <a:pt x="91440" y="3349231"/>
                  </a:lnTo>
                  <a:lnTo>
                    <a:pt x="91440" y="45720"/>
                  </a:lnTo>
                  <a:lnTo>
                    <a:pt x="87823" y="27994"/>
                  </a:lnTo>
                  <a:lnTo>
                    <a:pt x="77985" y="13454"/>
                  </a:lnTo>
                  <a:lnTo>
                    <a:pt x="63444" y="3616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373A4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023619" y="3106546"/>
            <a:ext cx="3646170" cy="184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>
                <a:solidFill>
                  <a:srgbClr val="52576B"/>
                </a:solidFill>
                <a:latin typeface="Arial"/>
                <a:cs typeface="Arial"/>
              </a:rPr>
              <a:t>80%</a:t>
            </a:r>
            <a:r>
              <a:rPr dirty="0" sz="24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2450">
                <a:solidFill>
                  <a:srgbClr val="52576B"/>
                </a:solidFill>
                <a:latin typeface="Arial"/>
                <a:cs typeface="Arial"/>
              </a:rPr>
              <a:t>Loyal</a:t>
            </a:r>
            <a:r>
              <a:rPr dirty="0" sz="24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52576B"/>
                </a:solidFill>
                <a:latin typeface="Arial"/>
                <a:cs typeface="Arial"/>
              </a:rPr>
              <a:t>Customers</a:t>
            </a:r>
            <a:endParaRPr sz="2450">
              <a:latin typeface="Arial"/>
              <a:cs typeface="Arial"/>
            </a:endParaRPr>
          </a:p>
          <a:p>
            <a:pPr marL="12700" marR="5080">
              <a:lnSpc>
                <a:spcPct val="131300"/>
              </a:lnSpc>
              <a:spcBef>
                <a:spcPts val="1010"/>
              </a:spcBef>
            </a:pP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Our</a:t>
            </a:r>
            <a:r>
              <a:rPr dirty="0" sz="165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segmentation</a:t>
            </a:r>
            <a:r>
              <a:rPr dirty="0" sz="165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analysis</a:t>
            </a:r>
            <a:r>
              <a:rPr dirty="0" sz="165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reveals</a:t>
            </a:r>
            <a:r>
              <a:rPr dirty="0" sz="165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that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the</a:t>
            </a:r>
            <a:r>
              <a:rPr dirty="0" sz="165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vast</a:t>
            </a:r>
            <a:r>
              <a:rPr dirty="0" sz="1650" spc="-1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majority</a:t>
            </a:r>
            <a:r>
              <a:rPr dirty="0" sz="165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of</a:t>
            </a:r>
            <a:r>
              <a:rPr dirty="0" sz="1650" spc="-1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our</a:t>
            </a:r>
            <a:r>
              <a:rPr dirty="0" sz="1650" spc="-10">
                <a:solidFill>
                  <a:srgbClr val="52576B"/>
                </a:solidFill>
                <a:latin typeface="Arial"/>
                <a:cs typeface="Arial"/>
              </a:rPr>
              <a:t> customers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(80%)</a:t>
            </a:r>
            <a:r>
              <a:rPr dirty="0" sz="165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are</a:t>
            </a:r>
            <a:r>
              <a:rPr dirty="0" sz="165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categorized</a:t>
            </a:r>
            <a:r>
              <a:rPr dirty="0" sz="165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as</a:t>
            </a:r>
            <a:r>
              <a:rPr dirty="0" sz="1650" spc="-10">
                <a:solidFill>
                  <a:srgbClr val="52576B"/>
                </a:solidFill>
                <a:latin typeface="Arial"/>
                <a:cs typeface="Arial"/>
              </a:rPr>
              <a:t> "Loyal,"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having</a:t>
            </a:r>
            <a:r>
              <a:rPr dirty="0" sz="165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made</a:t>
            </a:r>
            <a:r>
              <a:rPr dirty="0" sz="165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more</a:t>
            </a:r>
            <a:r>
              <a:rPr dirty="0" sz="165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than</a:t>
            </a:r>
            <a:r>
              <a:rPr dirty="0" sz="165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10</a:t>
            </a:r>
            <a:r>
              <a:rPr dirty="0" sz="165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52576B"/>
                </a:solidFill>
                <a:latin typeface="Arial"/>
                <a:cs typeface="Arial"/>
              </a:rPr>
              <a:t>purchases.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5168862" y="2861310"/>
            <a:ext cx="4281170" cy="3418204"/>
            <a:chOff x="5168862" y="2861310"/>
            <a:chExt cx="4281170" cy="3418204"/>
          </a:xfrm>
        </p:grpSpPr>
        <p:sp>
          <p:nvSpPr>
            <p:cNvPr id="10" name="object 10" descr=""/>
            <p:cNvSpPr/>
            <p:nvPr/>
          </p:nvSpPr>
          <p:spPr>
            <a:xfrm>
              <a:off x="5191722" y="2872740"/>
              <a:ext cx="4246880" cy="3395345"/>
            </a:xfrm>
            <a:custGeom>
              <a:avLst/>
              <a:gdLst/>
              <a:ahLst/>
              <a:cxnLst/>
              <a:rect l="l" t="t" r="r" b="b"/>
              <a:pathLst>
                <a:path w="4246880" h="3395345">
                  <a:moveTo>
                    <a:pt x="0" y="109727"/>
                  </a:moveTo>
                  <a:lnTo>
                    <a:pt x="8679" y="67186"/>
                  </a:lnTo>
                  <a:lnTo>
                    <a:pt x="32289" y="32289"/>
                  </a:lnTo>
                  <a:lnTo>
                    <a:pt x="67186" y="8679"/>
                  </a:lnTo>
                  <a:lnTo>
                    <a:pt x="109724" y="0"/>
                  </a:lnTo>
                  <a:lnTo>
                    <a:pt x="4137113" y="0"/>
                  </a:lnTo>
                  <a:lnTo>
                    <a:pt x="4179654" y="8679"/>
                  </a:lnTo>
                  <a:lnTo>
                    <a:pt x="4214552" y="32289"/>
                  </a:lnTo>
                  <a:lnTo>
                    <a:pt x="4238162" y="67186"/>
                  </a:lnTo>
                  <a:lnTo>
                    <a:pt x="4246841" y="109727"/>
                  </a:lnTo>
                  <a:lnTo>
                    <a:pt x="4246841" y="3285223"/>
                  </a:lnTo>
                  <a:lnTo>
                    <a:pt x="4238162" y="3327764"/>
                  </a:lnTo>
                  <a:lnTo>
                    <a:pt x="4214552" y="3362661"/>
                  </a:lnTo>
                  <a:lnTo>
                    <a:pt x="4179654" y="3386271"/>
                  </a:lnTo>
                  <a:lnTo>
                    <a:pt x="4137113" y="3394951"/>
                  </a:lnTo>
                  <a:lnTo>
                    <a:pt x="109724" y="3394951"/>
                  </a:lnTo>
                  <a:lnTo>
                    <a:pt x="67186" y="3386271"/>
                  </a:lnTo>
                  <a:lnTo>
                    <a:pt x="32289" y="3362661"/>
                  </a:lnTo>
                  <a:lnTo>
                    <a:pt x="8679" y="3327764"/>
                  </a:lnTo>
                  <a:lnTo>
                    <a:pt x="0" y="3285223"/>
                  </a:lnTo>
                  <a:lnTo>
                    <a:pt x="0" y="109727"/>
                  </a:lnTo>
                  <a:close/>
                </a:path>
              </a:pathLst>
            </a:custGeom>
            <a:ln w="22860">
              <a:solidFill>
                <a:srgbClr val="C7C9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168862" y="2872740"/>
              <a:ext cx="91440" cy="3395345"/>
            </a:xfrm>
            <a:custGeom>
              <a:avLst/>
              <a:gdLst/>
              <a:ahLst/>
              <a:cxnLst/>
              <a:rect l="l" t="t" r="r" b="b"/>
              <a:pathLst>
                <a:path w="91439" h="3395345">
                  <a:moveTo>
                    <a:pt x="45719" y="0"/>
                  </a:moveTo>
                  <a:lnTo>
                    <a:pt x="27994" y="3616"/>
                  </a:lnTo>
                  <a:lnTo>
                    <a:pt x="13454" y="13454"/>
                  </a:lnTo>
                  <a:lnTo>
                    <a:pt x="3616" y="27994"/>
                  </a:lnTo>
                  <a:lnTo>
                    <a:pt x="0" y="45720"/>
                  </a:lnTo>
                  <a:lnTo>
                    <a:pt x="0" y="3349231"/>
                  </a:lnTo>
                  <a:lnTo>
                    <a:pt x="3616" y="3366956"/>
                  </a:lnTo>
                  <a:lnTo>
                    <a:pt x="13454" y="3381497"/>
                  </a:lnTo>
                  <a:lnTo>
                    <a:pt x="27994" y="3391334"/>
                  </a:lnTo>
                  <a:lnTo>
                    <a:pt x="45720" y="3394951"/>
                  </a:lnTo>
                  <a:lnTo>
                    <a:pt x="63444" y="3391334"/>
                  </a:lnTo>
                  <a:lnTo>
                    <a:pt x="77985" y="3381497"/>
                  </a:lnTo>
                  <a:lnTo>
                    <a:pt x="87823" y="3366956"/>
                  </a:lnTo>
                  <a:lnTo>
                    <a:pt x="91440" y="3349231"/>
                  </a:lnTo>
                  <a:lnTo>
                    <a:pt x="91440" y="45720"/>
                  </a:lnTo>
                  <a:lnTo>
                    <a:pt x="87823" y="27994"/>
                  </a:lnTo>
                  <a:lnTo>
                    <a:pt x="77985" y="13454"/>
                  </a:lnTo>
                  <a:lnTo>
                    <a:pt x="63444" y="3616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373A4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5480367" y="3086226"/>
            <a:ext cx="3679825" cy="2922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17220">
              <a:lnSpc>
                <a:spcPct val="105400"/>
              </a:lnSpc>
              <a:spcBef>
                <a:spcPts val="100"/>
              </a:spcBef>
            </a:pPr>
            <a:r>
              <a:rPr dirty="0" sz="2450">
                <a:solidFill>
                  <a:srgbClr val="52576B"/>
                </a:solidFill>
                <a:latin typeface="Arial"/>
                <a:cs typeface="Arial"/>
              </a:rPr>
              <a:t>Unusual</a:t>
            </a:r>
            <a:r>
              <a:rPr dirty="0" sz="2450" spc="-9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2450">
                <a:solidFill>
                  <a:srgbClr val="52576B"/>
                </a:solidFill>
                <a:latin typeface="Arial"/>
                <a:cs typeface="Arial"/>
              </a:rPr>
              <a:t>Retention</a:t>
            </a:r>
            <a:r>
              <a:rPr dirty="0" sz="2450" spc="-9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2450" spc="-25">
                <a:solidFill>
                  <a:srgbClr val="52576B"/>
                </a:solidFill>
                <a:latin typeface="Arial"/>
                <a:cs typeface="Arial"/>
              </a:rPr>
              <a:t>vs. </a:t>
            </a:r>
            <a:r>
              <a:rPr dirty="0" sz="2450" spc="-10">
                <a:solidFill>
                  <a:srgbClr val="52576B"/>
                </a:solidFill>
                <a:latin typeface="Arial"/>
                <a:cs typeface="Arial"/>
              </a:rPr>
              <a:t>Acquisition</a:t>
            </a:r>
            <a:endParaRPr sz="2450">
              <a:latin typeface="Arial"/>
              <a:cs typeface="Arial"/>
            </a:endParaRPr>
          </a:p>
          <a:p>
            <a:pPr marL="12700" marR="5080">
              <a:lnSpc>
                <a:spcPct val="131300"/>
              </a:lnSpc>
              <a:spcBef>
                <a:spcPts val="1010"/>
              </a:spcBef>
            </a:pP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This</a:t>
            </a:r>
            <a:r>
              <a:rPr dirty="0" sz="165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high</a:t>
            </a:r>
            <a:r>
              <a:rPr dirty="0" sz="1650" spc="-1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loyalty</a:t>
            </a:r>
            <a:r>
              <a:rPr dirty="0" sz="165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rate</a:t>
            </a:r>
            <a:r>
              <a:rPr dirty="0" sz="1650" spc="-1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is</a:t>
            </a:r>
            <a:r>
              <a:rPr dirty="0" sz="165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52576B"/>
                </a:solidFill>
                <a:latin typeface="Arial"/>
                <a:cs typeface="Arial"/>
              </a:rPr>
              <a:t>unusual;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typically,</a:t>
            </a:r>
            <a:r>
              <a:rPr dirty="0" sz="1650" spc="-2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new</a:t>
            </a:r>
            <a:r>
              <a:rPr dirty="0" sz="1650" spc="-2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customer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52576B"/>
                </a:solidFill>
                <a:latin typeface="Arial"/>
                <a:cs typeface="Arial"/>
              </a:rPr>
              <a:t>acquisition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tends</a:t>
            </a:r>
            <a:r>
              <a:rPr dirty="0" sz="165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to</a:t>
            </a:r>
            <a:r>
              <a:rPr dirty="0" sz="165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outpace</a:t>
            </a:r>
            <a:r>
              <a:rPr dirty="0" sz="1650" spc="-1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the</a:t>
            </a:r>
            <a:r>
              <a:rPr dirty="0" sz="165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loyal</a:t>
            </a:r>
            <a:r>
              <a:rPr dirty="0" sz="1650" spc="-10">
                <a:solidFill>
                  <a:srgbClr val="52576B"/>
                </a:solidFill>
                <a:latin typeface="Arial"/>
                <a:cs typeface="Arial"/>
              </a:rPr>
              <a:t> segment.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While</a:t>
            </a:r>
            <a:r>
              <a:rPr dirty="0" sz="165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indicating</a:t>
            </a:r>
            <a:r>
              <a:rPr dirty="0" sz="165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strong</a:t>
            </a:r>
            <a:r>
              <a:rPr dirty="0" sz="165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retention,</a:t>
            </a:r>
            <a:r>
              <a:rPr dirty="0" sz="1650" spc="-2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it</a:t>
            </a:r>
            <a:r>
              <a:rPr dirty="0" sz="165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also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suggests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that</a:t>
            </a:r>
            <a:r>
              <a:rPr dirty="0" sz="165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new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customer</a:t>
            </a:r>
            <a:r>
              <a:rPr dirty="0" sz="165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52576B"/>
                </a:solidFill>
                <a:latin typeface="Arial"/>
                <a:cs typeface="Arial"/>
              </a:rPr>
              <a:t>acquisition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might</a:t>
            </a:r>
            <a:r>
              <a:rPr dirty="0" sz="165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be</a:t>
            </a:r>
            <a:r>
              <a:rPr dirty="0" sz="1650" spc="-10">
                <a:solidFill>
                  <a:srgbClr val="52576B"/>
                </a:solidFill>
                <a:latin typeface="Arial"/>
                <a:cs typeface="Arial"/>
              </a:rPr>
              <a:t> stagnant.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9625609" y="2861310"/>
            <a:ext cx="4281170" cy="3418204"/>
            <a:chOff x="9625609" y="2861310"/>
            <a:chExt cx="4281170" cy="3418204"/>
          </a:xfrm>
        </p:grpSpPr>
        <p:sp>
          <p:nvSpPr>
            <p:cNvPr id="14" name="object 14" descr=""/>
            <p:cNvSpPr/>
            <p:nvPr/>
          </p:nvSpPr>
          <p:spPr>
            <a:xfrm>
              <a:off x="9648469" y="2872740"/>
              <a:ext cx="4246880" cy="3395345"/>
            </a:xfrm>
            <a:custGeom>
              <a:avLst/>
              <a:gdLst/>
              <a:ahLst/>
              <a:cxnLst/>
              <a:rect l="l" t="t" r="r" b="b"/>
              <a:pathLst>
                <a:path w="4246880" h="3395345">
                  <a:moveTo>
                    <a:pt x="0" y="109727"/>
                  </a:moveTo>
                  <a:lnTo>
                    <a:pt x="8679" y="67186"/>
                  </a:lnTo>
                  <a:lnTo>
                    <a:pt x="32289" y="32289"/>
                  </a:lnTo>
                  <a:lnTo>
                    <a:pt x="67186" y="8679"/>
                  </a:lnTo>
                  <a:lnTo>
                    <a:pt x="109724" y="0"/>
                  </a:lnTo>
                  <a:lnTo>
                    <a:pt x="4137113" y="0"/>
                  </a:lnTo>
                  <a:lnTo>
                    <a:pt x="4179654" y="8679"/>
                  </a:lnTo>
                  <a:lnTo>
                    <a:pt x="4214552" y="32289"/>
                  </a:lnTo>
                  <a:lnTo>
                    <a:pt x="4238162" y="67186"/>
                  </a:lnTo>
                  <a:lnTo>
                    <a:pt x="4246841" y="109727"/>
                  </a:lnTo>
                  <a:lnTo>
                    <a:pt x="4246841" y="3285223"/>
                  </a:lnTo>
                  <a:lnTo>
                    <a:pt x="4238162" y="3327764"/>
                  </a:lnTo>
                  <a:lnTo>
                    <a:pt x="4214552" y="3362661"/>
                  </a:lnTo>
                  <a:lnTo>
                    <a:pt x="4179654" y="3386271"/>
                  </a:lnTo>
                  <a:lnTo>
                    <a:pt x="4137113" y="3394951"/>
                  </a:lnTo>
                  <a:lnTo>
                    <a:pt x="109724" y="3394951"/>
                  </a:lnTo>
                  <a:lnTo>
                    <a:pt x="67186" y="3386271"/>
                  </a:lnTo>
                  <a:lnTo>
                    <a:pt x="32289" y="3362661"/>
                  </a:lnTo>
                  <a:lnTo>
                    <a:pt x="8679" y="3327764"/>
                  </a:lnTo>
                  <a:lnTo>
                    <a:pt x="0" y="3285223"/>
                  </a:lnTo>
                  <a:lnTo>
                    <a:pt x="0" y="109727"/>
                  </a:lnTo>
                  <a:close/>
                </a:path>
              </a:pathLst>
            </a:custGeom>
            <a:ln w="22860">
              <a:solidFill>
                <a:srgbClr val="C7C9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625609" y="2872740"/>
              <a:ext cx="91440" cy="3395345"/>
            </a:xfrm>
            <a:custGeom>
              <a:avLst/>
              <a:gdLst/>
              <a:ahLst/>
              <a:cxnLst/>
              <a:rect l="l" t="t" r="r" b="b"/>
              <a:pathLst>
                <a:path w="91440" h="3395345">
                  <a:moveTo>
                    <a:pt x="45719" y="0"/>
                  </a:moveTo>
                  <a:lnTo>
                    <a:pt x="27994" y="3616"/>
                  </a:lnTo>
                  <a:lnTo>
                    <a:pt x="13454" y="13454"/>
                  </a:lnTo>
                  <a:lnTo>
                    <a:pt x="3616" y="27994"/>
                  </a:lnTo>
                  <a:lnTo>
                    <a:pt x="0" y="45720"/>
                  </a:lnTo>
                  <a:lnTo>
                    <a:pt x="0" y="3349231"/>
                  </a:lnTo>
                  <a:lnTo>
                    <a:pt x="3616" y="3366956"/>
                  </a:lnTo>
                  <a:lnTo>
                    <a:pt x="13454" y="3381497"/>
                  </a:lnTo>
                  <a:lnTo>
                    <a:pt x="27994" y="3391334"/>
                  </a:lnTo>
                  <a:lnTo>
                    <a:pt x="45720" y="3394951"/>
                  </a:lnTo>
                  <a:lnTo>
                    <a:pt x="63444" y="3391334"/>
                  </a:lnTo>
                  <a:lnTo>
                    <a:pt x="77985" y="3381497"/>
                  </a:lnTo>
                  <a:lnTo>
                    <a:pt x="87823" y="3366956"/>
                  </a:lnTo>
                  <a:lnTo>
                    <a:pt x="91440" y="3349231"/>
                  </a:lnTo>
                  <a:lnTo>
                    <a:pt x="91440" y="45720"/>
                  </a:lnTo>
                  <a:lnTo>
                    <a:pt x="87823" y="27994"/>
                  </a:lnTo>
                  <a:lnTo>
                    <a:pt x="77985" y="13454"/>
                  </a:lnTo>
                  <a:lnTo>
                    <a:pt x="63444" y="3616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373A4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9937115" y="3086226"/>
            <a:ext cx="3401695" cy="2592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67005">
              <a:lnSpc>
                <a:spcPct val="105400"/>
              </a:lnSpc>
              <a:spcBef>
                <a:spcPts val="100"/>
              </a:spcBef>
            </a:pPr>
            <a:r>
              <a:rPr dirty="0" sz="2450" spc="-10">
                <a:solidFill>
                  <a:srgbClr val="52576B"/>
                </a:solidFill>
                <a:latin typeface="Arial"/>
                <a:cs typeface="Arial"/>
              </a:rPr>
              <a:t>Under-</a:t>
            </a:r>
            <a:r>
              <a:rPr dirty="0" sz="2450">
                <a:solidFill>
                  <a:srgbClr val="52576B"/>
                </a:solidFill>
                <a:latin typeface="Arial"/>
                <a:cs typeface="Arial"/>
              </a:rPr>
              <a:t>Monetized</a:t>
            </a:r>
            <a:r>
              <a:rPr dirty="0" sz="24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52576B"/>
                </a:solidFill>
                <a:latin typeface="Arial"/>
                <a:cs typeface="Arial"/>
              </a:rPr>
              <a:t>Loyal </a:t>
            </a:r>
            <a:r>
              <a:rPr dirty="0" sz="2450" spc="-20">
                <a:solidFill>
                  <a:srgbClr val="52576B"/>
                </a:solidFill>
                <a:latin typeface="Arial"/>
                <a:cs typeface="Arial"/>
              </a:rPr>
              <a:t>Base</a:t>
            </a:r>
            <a:endParaRPr sz="2450">
              <a:latin typeface="Arial"/>
              <a:cs typeface="Arial"/>
            </a:endParaRPr>
          </a:p>
          <a:p>
            <a:pPr marL="12700" marR="5080">
              <a:lnSpc>
                <a:spcPct val="131300"/>
              </a:lnSpc>
              <a:spcBef>
                <a:spcPts val="1010"/>
              </a:spcBef>
            </a:pP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Despite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their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loyalty,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this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52576B"/>
                </a:solidFill>
                <a:latin typeface="Arial"/>
                <a:cs typeface="Arial"/>
              </a:rPr>
              <a:t>significant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segment</a:t>
            </a:r>
            <a:r>
              <a:rPr dirty="0" sz="1650" spc="-1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appears</a:t>
            </a:r>
            <a:r>
              <a:rPr dirty="0" sz="1650" spc="-1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to</a:t>
            </a:r>
            <a:r>
              <a:rPr dirty="0" sz="1650" spc="-1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be</a:t>
            </a:r>
            <a:r>
              <a:rPr dirty="0" sz="1650" spc="-10">
                <a:solidFill>
                  <a:srgbClr val="52576B"/>
                </a:solidFill>
                <a:latin typeface="Arial"/>
                <a:cs typeface="Arial"/>
              </a:rPr>
              <a:t> under-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monetized.</a:t>
            </a:r>
            <a:r>
              <a:rPr dirty="0" sz="1650" spc="-2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Strategies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are</a:t>
            </a:r>
            <a:r>
              <a:rPr dirty="0" sz="1650" spc="-2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needed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 spc="-25">
                <a:solidFill>
                  <a:srgbClr val="52576B"/>
                </a:solidFill>
                <a:latin typeface="Arial"/>
                <a:cs typeface="Arial"/>
              </a:rPr>
              <a:t>to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increase</a:t>
            </a:r>
            <a:r>
              <a:rPr dirty="0" sz="1650" spc="-2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their</a:t>
            </a:r>
            <a:r>
              <a:rPr dirty="0" sz="1650" spc="-2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average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52576B"/>
                </a:solidFill>
                <a:latin typeface="Arial"/>
                <a:cs typeface="Arial"/>
              </a:rPr>
              <a:t>transaction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value</a:t>
            </a:r>
            <a:r>
              <a:rPr dirty="0" sz="1650" spc="-1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or</a:t>
            </a:r>
            <a:r>
              <a:rPr dirty="0" sz="1650" spc="-10">
                <a:solidFill>
                  <a:srgbClr val="52576B"/>
                </a:solidFill>
                <a:latin typeface="Arial"/>
                <a:cs typeface="Arial"/>
              </a:rPr>
              <a:t> frequency.</a:t>
            </a:r>
            <a:endParaRPr sz="165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037192" y="6722998"/>
            <a:ext cx="12597130" cy="685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1300"/>
              </a:lnSpc>
              <a:spcBef>
                <a:spcPts val="100"/>
              </a:spcBef>
            </a:pPr>
            <a:r>
              <a:rPr dirty="0" sz="1650" b="1">
                <a:solidFill>
                  <a:srgbClr val="52576B"/>
                </a:solidFill>
                <a:latin typeface="Arial"/>
                <a:cs typeface="Arial"/>
              </a:rPr>
              <a:t>Why</a:t>
            </a:r>
            <a:r>
              <a:rPr dirty="0" sz="1650" spc="-20" b="1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52576B"/>
                </a:solidFill>
                <a:latin typeface="Arial"/>
                <a:cs typeface="Arial"/>
              </a:rPr>
              <a:t>This</a:t>
            </a:r>
            <a:r>
              <a:rPr dirty="0" sz="1650" spc="-20" b="1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52576B"/>
                </a:solidFill>
                <a:latin typeface="Arial"/>
                <a:cs typeface="Arial"/>
              </a:rPr>
              <a:t>Matters:</a:t>
            </a:r>
            <a:r>
              <a:rPr dirty="0" sz="1650" spc="-20" b="1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This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paradox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highlights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a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need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to</a:t>
            </a:r>
            <a:r>
              <a:rPr dirty="0" sz="165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balance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nurturing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existing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loyal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customers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with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reinvigorating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efforts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to</a:t>
            </a:r>
            <a:r>
              <a:rPr dirty="0" sz="1650" spc="-1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attract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 spc="-25">
                <a:solidFill>
                  <a:srgbClr val="52576B"/>
                </a:solidFill>
                <a:latin typeface="Arial"/>
                <a:cs typeface="Arial"/>
              </a:rPr>
              <a:t>and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convert</a:t>
            </a:r>
            <a:r>
              <a:rPr dirty="0" sz="16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new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buyers.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Excellent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retention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is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valuable,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but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growth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52576B"/>
                </a:solidFill>
                <a:latin typeface="Arial"/>
                <a:cs typeface="Arial"/>
              </a:rPr>
              <a:t>requires</a:t>
            </a:r>
            <a:r>
              <a:rPr dirty="0" sz="1650" spc="-2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52576B"/>
                </a:solidFill>
                <a:latin typeface="Arial"/>
                <a:cs typeface="Arial"/>
              </a:rPr>
              <a:t>both.</a:t>
            </a:r>
            <a:endParaRPr sz="1650">
              <a:latin typeface="Arial"/>
              <a:cs typeface="Arial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734973" y="6503911"/>
            <a:ext cx="22860" cy="1144905"/>
          </a:xfrm>
          <a:custGeom>
            <a:avLst/>
            <a:gdLst/>
            <a:ahLst/>
            <a:cxnLst/>
            <a:rect l="l" t="t" r="r" b="b"/>
            <a:pathLst>
              <a:path w="22859" h="1144904">
                <a:moveTo>
                  <a:pt x="22860" y="0"/>
                </a:moveTo>
                <a:lnTo>
                  <a:pt x="0" y="0"/>
                </a:lnTo>
                <a:lnTo>
                  <a:pt x="0" y="1144422"/>
                </a:lnTo>
                <a:lnTo>
                  <a:pt x="22860" y="1144422"/>
                </a:lnTo>
                <a:lnTo>
                  <a:pt x="22860" y="0"/>
                </a:lnTo>
                <a:close/>
              </a:path>
            </a:pathLst>
          </a:custGeom>
          <a:solidFill>
            <a:srgbClr val="373A47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73087" y="459694"/>
            <a:ext cx="307340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373A47"/>
                </a:solidFill>
                <a:latin typeface="Arial"/>
                <a:cs typeface="Arial"/>
              </a:rPr>
              <a:t>SQL</a:t>
            </a:r>
            <a:r>
              <a:rPr dirty="0" sz="1600" spc="-15">
                <a:solidFill>
                  <a:srgbClr val="373A47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373A47"/>
                </a:solidFill>
                <a:latin typeface="Arial"/>
                <a:cs typeface="Arial"/>
              </a:rPr>
              <a:t>DATA</a:t>
            </a:r>
            <a:r>
              <a:rPr dirty="0" sz="1600" spc="-10">
                <a:solidFill>
                  <a:srgbClr val="373A47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373A47"/>
                </a:solidFill>
                <a:latin typeface="Arial"/>
                <a:cs typeface="Arial"/>
              </a:rPr>
              <a:t>ANALYSIS</a:t>
            </a:r>
            <a:r>
              <a:rPr dirty="0" sz="1600" spc="-15">
                <a:solidFill>
                  <a:srgbClr val="373A47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373A47"/>
                </a:solidFill>
                <a:latin typeface="Arial"/>
                <a:cs typeface="Arial"/>
              </a:rPr>
              <a:t>RESULTS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110"/>
              <a:t> </a:t>
            </a:r>
            <a:r>
              <a:rPr dirty="0"/>
              <a:t>Subscription</a:t>
            </a:r>
            <a:r>
              <a:rPr dirty="0" spc="-105"/>
              <a:t> </a:t>
            </a:r>
            <a:r>
              <a:rPr dirty="0"/>
              <a:t>Value</a:t>
            </a:r>
            <a:r>
              <a:rPr dirty="0" spc="-105"/>
              <a:t> </a:t>
            </a:r>
            <a:r>
              <a:rPr dirty="0"/>
              <a:t>Myth</a:t>
            </a:r>
            <a:r>
              <a:rPr dirty="0" spc="-105"/>
              <a:t> </a:t>
            </a:r>
            <a:r>
              <a:rPr dirty="0" spc="-10"/>
              <a:t>Debunked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27011" y="2206701"/>
            <a:ext cx="7034783" cy="6022898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573087" y="1614843"/>
            <a:ext cx="8023859" cy="3663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Our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analysis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challenges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the</a:t>
            </a:r>
            <a:r>
              <a:rPr dirty="0" sz="130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52576B"/>
                </a:solidFill>
                <a:latin typeface="Arial"/>
                <a:cs typeface="Arial"/>
              </a:rPr>
              <a:t>assumption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that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subscribers</a:t>
            </a:r>
            <a:r>
              <a:rPr dirty="0" sz="130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inherently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lead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to</a:t>
            </a:r>
            <a:r>
              <a:rPr dirty="0" sz="130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higher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average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52576B"/>
                </a:solidFill>
                <a:latin typeface="Arial"/>
                <a:cs typeface="Arial"/>
              </a:rPr>
              <a:t>transaction</a:t>
            </a:r>
            <a:r>
              <a:rPr dirty="0" sz="130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52576B"/>
                </a:solidFill>
                <a:latin typeface="Arial"/>
                <a:cs typeface="Arial"/>
              </a:rPr>
              <a:t>values.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15"/>
              </a:spcBef>
            </a:pP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600">
                <a:solidFill>
                  <a:srgbClr val="373A47"/>
                </a:solidFill>
                <a:latin typeface="Arial"/>
                <a:cs typeface="Arial"/>
              </a:rPr>
              <a:t>Subscribers</a:t>
            </a:r>
            <a:r>
              <a:rPr dirty="0" sz="2600" spc="-80">
                <a:solidFill>
                  <a:srgbClr val="373A47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373A47"/>
                </a:solidFill>
                <a:latin typeface="Arial"/>
                <a:cs typeface="Arial"/>
              </a:rPr>
              <a:t>vs.</a:t>
            </a:r>
            <a:r>
              <a:rPr dirty="0" sz="2600" spc="-80">
                <a:solidFill>
                  <a:srgbClr val="373A47"/>
                </a:solidFill>
                <a:latin typeface="Arial"/>
                <a:cs typeface="Arial"/>
              </a:rPr>
              <a:t> </a:t>
            </a:r>
            <a:r>
              <a:rPr dirty="0" sz="2600" spc="-25">
                <a:solidFill>
                  <a:srgbClr val="373A47"/>
                </a:solidFill>
                <a:latin typeface="Arial"/>
                <a:cs typeface="Arial"/>
              </a:rPr>
              <a:t>Non-</a:t>
            </a:r>
            <a:r>
              <a:rPr dirty="0" sz="2600" spc="-10">
                <a:solidFill>
                  <a:srgbClr val="373A47"/>
                </a:solidFill>
                <a:latin typeface="Arial"/>
                <a:cs typeface="Arial"/>
              </a:rPr>
              <a:t>Subscribers</a:t>
            </a:r>
            <a:endParaRPr sz="2600">
              <a:latin typeface="Arial"/>
              <a:cs typeface="Arial"/>
            </a:endParaRPr>
          </a:p>
          <a:p>
            <a:pPr marL="12700" marR="1747520">
              <a:lnSpc>
                <a:spcPct val="134600"/>
              </a:lnSpc>
              <a:spcBef>
                <a:spcPts val="1390"/>
              </a:spcBef>
            </a:pP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Contrary</a:t>
            </a:r>
            <a:r>
              <a:rPr dirty="0" sz="130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to</a:t>
            </a:r>
            <a:r>
              <a:rPr dirty="0" sz="130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52576B"/>
                </a:solidFill>
                <a:latin typeface="Arial"/>
                <a:cs typeface="Arial"/>
              </a:rPr>
              <a:t>expectations,</a:t>
            </a:r>
            <a:r>
              <a:rPr dirty="0" sz="130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subscribers</a:t>
            </a:r>
            <a:r>
              <a:rPr dirty="0" sz="130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do</a:t>
            </a:r>
            <a:r>
              <a:rPr dirty="0" sz="130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not</a:t>
            </a:r>
            <a:r>
              <a:rPr dirty="0" sz="130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52576B"/>
                </a:solidFill>
                <a:latin typeface="Arial"/>
                <a:cs typeface="Arial"/>
              </a:rPr>
              <a:t>demonstrate</a:t>
            </a:r>
            <a:r>
              <a:rPr dirty="0" sz="130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a</a:t>
            </a:r>
            <a:r>
              <a:rPr dirty="0" sz="130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higher</a:t>
            </a:r>
            <a:r>
              <a:rPr dirty="0" sz="130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average</a:t>
            </a:r>
            <a:r>
              <a:rPr dirty="0" sz="130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spend</a:t>
            </a:r>
            <a:r>
              <a:rPr dirty="0" sz="130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52576B"/>
                </a:solidFill>
                <a:latin typeface="Arial"/>
                <a:cs typeface="Arial"/>
              </a:rPr>
              <a:t>per </a:t>
            </a:r>
            <a:r>
              <a:rPr dirty="0" sz="1300" spc="-10">
                <a:solidFill>
                  <a:srgbClr val="52576B"/>
                </a:solidFill>
                <a:latin typeface="Arial"/>
                <a:cs typeface="Arial"/>
              </a:rPr>
              <a:t>transaction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 than </a:t>
            </a:r>
            <a:r>
              <a:rPr dirty="0" sz="1300" spc="-20">
                <a:solidFill>
                  <a:srgbClr val="52576B"/>
                </a:solidFill>
                <a:latin typeface="Arial"/>
                <a:cs typeface="Arial"/>
              </a:rPr>
              <a:t>non-</a:t>
            </a:r>
            <a:r>
              <a:rPr dirty="0" sz="1300" spc="-10">
                <a:solidFill>
                  <a:srgbClr val="52576B"/>
                </a:solidFill>
                <a:latin typeface="Arial"/>
                <a:cs typeface="Arial"/>
              </a:rPr>
              <a:t>subscribers: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00" b="1">
                <a:solidFill>
                  <a:srgbClr val="52576B"/>
                </a:solidFill>
                <a:latin typeface="Arial"/>
                <a:cs typeface="Arial"/>
              </a:rPr>
              <a:t>Average</a:t>
            </a:r>
            <a:r>
              <a:rPr dirty="0" sz="1300" spc="-65" b="1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52576B"/>
                </a:solidFill>
                <a:latin typeface="Arial"/>
                <a:cs typeface="Arial"/>
              </a:rPr>
              <a:t>Spend</a:t>
            </a:r>
            <a:r>
              <a:rPr dirty="0" sz="1300" spc="-60" b="1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52576B"/>
                </a:solidFill>
                <a:latin typeface="Arial"/>
                <a:cs typeface="Arial"/>
              </a:rPr>
              <a:t>(Subscribers):</a:t>
            </a:r>
            <a:r>
              <a:rPr dirty="0" sz="1300" spc="-50" b="1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52576B"/>
                </a:solidFill>
                <a:latin typeface="Arial"/>
                <a:cs typeface="Arial"/>
              </a:rPr>
              <a:t>$59.49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1300" b="1">
                <a:solidFill>
                  <a:srgbClr val="52576B"/>
                </a:solidFill>
                <a:latin typeface="Arial"/>
                <a:cs typeface="Arial"/>
              </a:rPr>
              <a:t>Average</a:t>
            </a:r>
            <a:r>
              <a:rPr dirty="0" sz="1300" spc="-60" b="1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52576B"/>
                </a:solidFill>
                <a:latin typeface="Arial"/>
                <a:cs typeface="Arial"/>
              </a:rPr>
              <a:t>Spend</a:t>
            </a:r>
            <a:r>
              <a:rPr dirty="0" sz="1300" spc="-60" b="1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52576B"/>
                </a:solidFill>
                <a:latin typeface="Arial"/>
                <a:cs typeface="Arial"/>
              </a:rPr>
              <a:t>(Non-</a:t>
            </a:r>
            <a:r>
              <a:rPr dirty="0" sz="1300" b="1">
                <a:solidFill>
                  <a:srgbClr val="52576B"/>
                </a:solidFill>
                <a:latin typeface="Arial"/>
                <a:cs typeface="Arial"/>
              </a:rPr>
              <a:t>Subscribers):</a:t>
            </a:r>
            <a:r>
              <a:rPr dirty="0" sz="1300" spc="-45" b="1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52576B"/>
                </a:solidFill>
                <a:latin typeface="Arial"/>
                <a:cs typeface="Arial"/>
              </a:rPr>
              <a:t>$59.87</a:t>
            </a:r>
            <a:endParaRPr sz="1300">
              <a:latin typeface="Arial"/>
              <a:cs typeface="Arial"/>
            </a:endParaRPr>
          </a:p>
          <a:p>
            <a:pPr marL="12700" marR="1575435">
              <a:lnSpc>
                <a:spcPct val="134600"/>
              </a:lnSpc>
              <a:spcBef>
                <a:spcPts val="1195"/>
              </a:spcBef>
            </a:pPr>
            <a:r>
              <a:rPr dirty="0" sz="1300" b="1">
                <a:solidFill>
                  <a:srgbClr val="52576B"/>
                </a:solidFill>
                <a:latin typeface="Arial"/>
                <a:cs typeface="Arial"/>
              </a:rPr>
              <a:t>Why</a:t>
            </a:r>
            <a:r>
              <a:rPr dirty="0" sz="1300" spc="-40" b="1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52576B"/>
                </a:solidFill>
                <a:latin typeface="Arial"/>
                <a:cs typeface="Arial"/>
              </a:rPr>
              <a:t>This</a:t>
            </a:r>
            <a:r>
              <a:rPr dirty="0" sz="1300" spc="-40" b="1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52576B"/>
                </a:solidFill>
                <a:latin typeface="Arial"/>
                <a:cs typeface="Arial"/>
              </a:rPr>
              <a:t>Matters:</a:t>
            </a:r>
            <a:r>
              <a:rPr dirty="0" sz="1300" spc="-40" b="1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This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finding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indicates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that</a:t>
            </a:r>
            <a:r>
              <a:rPr dirty="0" sz="130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our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current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52576B"/>
                </a:solidFill>
                <a:latin typeface="Arial"/>
                <a:cs typeface="Arial"/>
              </a:rPr>
              <a:t>subscription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program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52576B"/>
                </a:solidFill>
                <a:latin typeface="Arial"/>
                <a:cs typeface="Arial"/>
              </a:rPr>
              <a:t>primarily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drives</a:t>
            </a:r>
            <a:r>
              <a:rPr dirty="0" sz="130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52576B"/>
                </a:solidFill>
                <a:latin typeface="Arial"/>
                <a:cs typeface="Arial"/>
              </a:rPr>
              <a:t>increased</a:t>
            </a:r>
            <a:r>
              <a:rPr dirty="0" sz="130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visit</a:t>
            </a:r>
            <a:r>
              <a:rPr dirty="0" sz="130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frequency</a:t>
            </a:r>
            <a:r>
              <a:rPr dirty="0" sz="130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rather</a:t>
            </a:r>
            <a:r>
              <a:rPr dirty="0" sz="130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than</a:t>
            </a:r>
            <a:r>
              <a:rPr dirty="0" sz="130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larger</a:t>
            </a:r>
            <a:r>
              <a:rPr dirty="0" sz="130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basket</a:t>
            </a:r>
            <a:r>
              <a:rPr dirty="0" sz="130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sizes.</a:t>
            </a:r>
            <a:r>
              <a:rPr dirty="0" sz="130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We</a:t>
            </a:r>
            <a:r>
              <a:rPr dirty="0" sz="130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need</a:t>
            </a:r>
            <a:r>
              <a:rPr dirty="0" sz="130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to</a:t>
            </a:r>
            <a:r>
              <a:rPr dirty="0" sz="130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52576B"/>
                </a:solidFill>
                <a:latin typeface="Arial"/>
                <a:cs typeface="Arial"/>
              </a:rPr>
              <a:t>re-</a:t>
            </a:r>
            <a:r>
              <a:rPr dirty="0" sz="1300" spc="-10">
                <a:solidFill>
                  <a:srgbClr val="52576B"/>
                </a:solidFill>
                <a:latin typeface="Arial"/>
                <a:cs typeface="Arial"/>
              </a:rPr>
              <a:t>evaluate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the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benefits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and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incentives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of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our</a:t>
            </a:r>
            <a:r>
              <a:rPr dirty="0" sz="130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52576B"/>
                </a:solidFill>
                <a:latin typeface="Arial"/>
                <a:cs typeface="Arial"/>
              </a:rPr>
              <a:t>subscription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model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to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truly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enhance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customer</a:t>
            </a:r>
            <a:r>
              <a:rPr dirty="0" sz="130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52576B"/>
                </a:solidFill>
                <a:latin typeface="Arial"/>
                <a:cs typeface="Arial"/>
              </a:rPr>
              <a:t>lifetime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value</a:t>
            </a:r>
            <a:r>
              <a:rPr dirty="0" sz="130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beyond</a:t>
            </a:r>
            <a:r>
              <a:rPr dirty="0" sz="130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just</a:t>
            </a:r>
            <a:r>
              <a:rPr dirty="0" sz="130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repeat</a:t>
            </a:r>
            <a:r>
              <a:rPr dirty="0" sz="130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52576B"/>
                </a:solidFill>
                <a:latin typeface="Arial"/>
                <a:cs typeface="Arial"/>
              </a:rPr>
              <a:t>visits.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3573" y="464461"/>
            <a:ext cx="12923520" cy="1026160"/>
          </a:xfrm>
          <a:prstGeom prst="rect"/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1850"/>
              <a:t>SQL</a:t>
            </a:r>
            <a:r>
              <a:rPr dirty="0" sz="1850" spc="-45"/>
              <a:t> </a:t>
            </a:r>
            <a:r>
              <a:rPr dirty="0" sz="1850"/>
              <a:t>DATA</a:t>
            </a:r>
            <a:r>
              <a:rPr dirty="0" sz="1850" spc="-45"/>
              <a:t> </a:t>
            </a:r>
            <a:r>
              <a:rPr dirty="0" sz="1850"/>
              <a:t>ANALYSIS</a:t>
            </a:r>
            <a:r>
              <a:rPr dirty="0" sz="1850" spc="-40"/>
              <a:t> </a:t>
            </a:r>
            <a:r>
              <a:rPr dirty="0" sz="1850" spc="-10"/>
              <a:t>RESULTS</a:t>
            </a:r>
            <a:endParaRPr sz="1850"/>
          </a:p>
          <a:p>
            <a:pPr marL="12700">
              <a:lnSpc>
                <a:spcPct val="100000"/>
              </a:lnSpc>
              <a:spcBef>
                <a:spcPts val="810"/>
              </a:spcBef>
              <a:tabLst>
                <a:tab pos="2283460" algn="l"/>
                <a:tab pos="3197225" algn="l"/>
                <a:tab pos="4946015" algn="l"/>
                <a:tab pos="6957059" algn="l"/>
                <a:tab pos="8914130" algn="l"/>
                <a:tab pos="9880600" algn="l"/>
              </a:tabLst>
            </a:pPr>
            <a:r>
              <a:rPr dirty="0" sz="3700" spc="-10"/>
              <a:t>Identifying</a:t>
            </a:r>
            <a:r>
              <a:rPr dirty="0" sz="3700"/>
              <a:t>	</a:t>
            </a:r>
            <a:r>
              <a:rPr dirty="0" sz="3700" spc="-25"/>
              <a:t>Our</a:t>
            </a:r>
            <a:r>
              <a:rPr dirty="0" sz="3700"/>
              <a:t>	</a:t>
            </a:r>
            <a:r>
              <a:rPr dirty="0" sz="3700" spc="-10"/>
              <a:t>Primary</a:t>
            </a:r>
            <a:r>
              <a:rPr dirty="0" sz="3700"/>
              <a:t>	</a:t>
            </a:r>
            <a:r>
              <a:rPr dirty="0" sz="3700" spc="-10"/>
              <a:t>Revenue</a:t>
            </a:r>
            <a:r>
              <a:rPr dirty="0" sz="3700"/>
              <a:t>	</a:t>
            </a:r>
            <a:r>
              <a:rPr dirty="0" sz="3700" spc="-10"/>
              <a:t>Engines:</a:t>
            </a:r>
            <a:r>
              <a:rPr dirty="0" sz="3700"/>
              <a:t>	</a:t>
            </a:r>
            <a:r>
              <a:rPr dirty="0" sz="3700" spc="-25"/>
              <a:t>Age</a:t>
            </a:r>
            <a:r>
              <a:rPr dirty="0" sz="3700"/>
              <a:t>	</a:t>
            </a:r>
            <a:r>
              <a:rPr dirty="0" sz="3700" spc="-10"/>
              <a:t>Demographics</a:t>
            </a:r>
            <a:endParaRPr sz="3700"/>
          </a:p>
        </p:txBody>
      </p:sp>
      <p:sp>
        <p:nvSpPr>
          <p:cNvPr id="3" name="object 3" descr=""/>
          <p:cNvSpPr txBox="1"/>
          <p:nvPr/>
        </p:nvSpPr>
        <p:spPr>
          <a:xfrm>
            <a:off x="653573" y="2433065"/>
            <a:ext cx="9264015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Focusing</a:t>
            </a:r>
            <a:r>
              <a:rPr dirty="0" sz="14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marketing</a:t>
            </a:r>
            <a:r>
              <a:rPr dirty="0" sz="14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efforts</a:t>
            </a:r>
            <a:r>
              <a:rPr dirty="0" sz="14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on</a:t>
            </a:r>
            <a:r>
              <a:rPr dirty="0" sz="14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the</a:t>
            </a:r>
            <a:r>
              <a:rPr dirty="0" sz="14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most</a:t>
            </a:r>
            <a:r>
              <a:rPr dirty="0" sz="14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profitable</a:t>
            </a:r>
            <a:r>
              <a:rPr dirty="0" sz="14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age</a:t>
            </a:r>
            <a:r>
              <a:rPr dirty="0" sz="14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groups</a:t>
            </a:r>
            <a:r>
              <a:rPr dirty="0" sz="14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can</a:t>
            </a:r>
            <a:r>
              <a:rPr dirty="0" sz="14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optimize</a:t>
            </a:r>
            <a:r>
              <a:rPr dirty="0" sz="14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ad</a:t>
            </a:r>
            <a:r>
              <a:rPr dirty="0" sz="14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spend</a:t>
            </a:r>
            <a:r>
              <a:rPr dirty="0" sz="14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and</a:t>
            </a:r>
            <a:r>
              <a:rPr dirty="0" sz="14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campaign</a:t>
            </a:r>
            <a:r>
              <a:rPr dirty="0" sz="14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52576B"/>
                </a:solidFill>
                <a:latin typeface="Arial"/>
                <a:cs typeface="Arial"/>
              </a:rPr>
              <a:t>effectiveness.</a:t>
            </a:r>
            <a:endParaRPr sz="145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662463" y="2982163"/>
            <a:ext cx="5897880" cy="245745"/>
            <a:chOff x="662463" y="2982163"/>
            <a:chExt cx="5897880" cy="245745"/>
          </a:xfrm>
        </p:grpSpPr>
        <p:sp>
          <p:nvSpPr>
            <p:cNvPr id="5" name="object 5" descr=""/>
            <p:cNvSpPr/>
            <p:nvPr/>
          </p:nvSpPr>
          <p:spPr>
            <a:xfrm>
              <a:off x="666273" y="2985973"/>
              <a:ext cx="5890260" cy="238125"/>
            </a:xfrm>
            <a:custGeom>
              <a:avLst/>
              <a:gdLst/>
              <a:ahLst/>
              <a:cxnLst/>
              <a:rect l="l" t="t" r="r" b="b"/>
              <a:pathLst>
                <a:path w="5890259" h="238125">
                  <a:moveTo>
                    <a:pt x="5810300" y="0"/>
                  </a:moveTo>
                  <a:lnTo>
                    <a:pt x="79953" y="0"/>
                  </a:lnTo>
                  <a:lnTo>
                    <a:pt x="48956" y="6324"/>
                  </a:lnTo>
                  <a:lnTo>
                    <a:pt x="23528" y="23529"/>
                  </a:lnTo>
                  <a:lnTo>
                    <a:pt x="6324" y="48959"/>
                  </a:lnTo>
                  <a:lnTo>
                    <a:pt x="0" y="79959"/>
                  </a:lnTo>
                  <a:lnTo>
                    <a:pt x="0" y="157937"/>
                  </a:lnTo>
                  <a:lnTo>
                    <a:pt x="6324" y="188929"/>
                  </a:lnTo>
                  <a:lnTo>
                    <a:pt x="23528" y="214355"/>
                  </a:lnTo>
                  <a:lnTo>
                    <a:pt x="48956" y="231558"/>
                  </a:lnTo>
                  <a:lnTo>
                    <a:pt x="79953" y="237883"/>
                  </a:lnTo>
                  <a:lnTo>
                    <a:pt x="5810300" y="237883"/>
                  </a:lnTo>
                  <a:lnTo>
                    <a:pt x="5841300" y="231558"/>
                  </a:lnTo>
                  <a:lnTo>
                    <a:pt x="5866730" y="214355"/>
                  </a:lnTo>
                  <a:lnTo>
                    <a:pt x="5883935" y="188929"/>
                  </a:lnTo>
                  <a:lnTo>
                    <a:pt x="5890260" y="157937"/>
                  </a:lnTo>
                  <a:lnTo>
                    <a:pt x="5890260" y="79959"/>
                  </a:lnTo>
                  <a:lnTo>
                    <a:pt x="5883935" y="48959"/>
                  </a:lnTo>
                  <a:lnTo>
                    <a:pt x="5866730" y="23529"/>
                  </a:lnTo>
                  <a:lnTo>
                    <a:pt x="5841300" y="6324"/>
                  </a:lnTo>
                  <a:lnTo>
                    <a:pt x="5810300" y="0"/>
                  </a:lnTo>
                  <a:close/>
                </a:path>
              </a:pathLst>
            </a:custGeom>
            <a:solidFill>
              <a:srgbClr val="E1E3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66273" y="2985973"/>
              <a:ext cx="5890260" cy="238125"/>
            </a:xfrm>
            <a:custGeom>
              <a:avLst/>
              <a:gdLst/>
              <a:ahLst/>
              <a:cxnLst/>
              <a:rect l="l" t="t" r="r" b="b"/>
              <a:pathLst>
                <a:path w="5890259" h="238125">
                  <a:moveTo>
                    <a:pt x="0" y="79959"/>
                  </a:moveTo>
                  <a:lnTo>
                    <a:pt x="6324" y="48959"/>
                  </a:lnTo>
                  <a:lnTo>
                    <a:pt x="23528" y="23529"/>
                  </a:lnTo>
                  <a:lnTo>
                    <a:pt x="48956" y="6324"/>
                  </a:lnTo>
                  <a:lnTo>
                    <a:pt x="79953" y="0"/>
                  </a:lnTo>
                  <a:lnTo>
                    <a:pt x="5810300" y="0"/>
                  </a:lnTo>
                  <a:lnTo>
                    <a:pt x="5841300" y="6324"/>
                  </a:lnTo>
                  <a:lnTo>
                    <a:pt x="5866730" y="23529"/>
                  </a:lnTo>
                  <a:lnTo>
                    <a:pt x="5883935" y="48959"/>
                  </a:lnTo>
                  <a:lnTo>
                    <a:pt x="5890260" y="79959"/>
                  </a:lnTo>
                  <a:lnTo>
                    <a:pt x="5890260" y="157937"/>
                  </a:lnTo>
                  <a:lnTo>
                    <a:pt x="5883935" y="188929"/>
                  </a:lnTo>
                  <a:lnTo>
                    <a:pt x="5866730" y="214355"/>
                  </a:lnTo>
                  <a:lnTo>
                    <a:pt x="5841300" y="231558"/>
                  </a:lnTo>
                  <a:lnTo>
                    <a:pt x="5810300" y="237883"/>
                  </a:lnTo>
                  <a:lnTo>
                    <a:pt x="79953" y="237883"/>
                  </a:lnTo>
                  <a:lnTo>
                    <a:pt x="48956" y="231558"/>
                  </a:lnTo>
                  <a:lnTo>
                    <a:pt x="23528" y="214355"/>
                  </a:lnTo>
                  <a:lnTo>
                    <a:pt x="6324" y="188929"/>
                  </a:lnTo>
                  <a:lnTo>
                    <a:pt x="0" y="157937"/>
                  </a:lnTo>
                  <a:lnTo>
                    <a:pt x="0" y="79959"/>
                  </a:lnTo>
                  <a:close/>
                </a:path>
              </a:pathLst>
            </a:custGeom>
            <a:ln w="7619">
              <a:solidFill>
                <a:srgbClr val="C7C9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66273" y="2985973"/>
              <a:ext cx="2651125" cy="238125"/>
            </a:xfrm>
            <a:custGeom>
              <a:avLst/>
              <a:gdLst/>
              <a:ahLst/>
              <a:cxnLst/>
              <a:rect l="l" t="t" r="r" b="b"/>
              <a:pathLst>
                <a:path w="2651125" h="238125">
                  <a:moveTo>
                    <a:pt x="2570619" y="0"/>
                  </a:moveTo>
                  <a:lnTo>
                    <a:pt x="79953" y="0"/>
                  </a:lnTo>
                  <a:lnTo>
                    <a:pt x="48956" y="6324"/>
                  </a:lnTo>
                  <a:lnTo>
                    <a:pt x="23528" y="23529"/>
                  </a:lnTo>
                  <a:lnTo>
                    <a:pt x="6324" y="48959"/>
                  </a:lnTo>
                  <a:lnTo>
                    <a:pt x="0" y="79959"/>
                  </a:lnTo>
                  <a:lnTo>
                    <a:pt x="0" y="157937"/>
                  </a:lnTo>
                  <a:lnTo>
                    <a:pt x="6324" y="188929"/>
                  </a:lnTo>
                  <a:lnTo>
                    <a:pt x="23528" y="214355"/>
                  </a:lnTo>
                  <a:lnTo>
                    <a:pt x="48956" y="231558"/>
                  </a:lnTo>
                  <a:lnTo>
                    <a:pt x="79953" y="237883"/>
                  </a:lnTo>
                  <a:lnTo>
                    <a:pt x="2570619" y="237883"/>
                  </a:lnTo>
                  <a:lnTo>
                    <a:pt x="2601611" y="231558"/>
                  </a:lnTo>
                  <a:lnTo>
                    <a:pt x="2627037" y="214355"/>
                  </a:lnTo>
                  <a:lnTo>
                    <a:pt x="2644241" y="188929"/>
                  </a:lnTo>
                  <a:lnTo>
                    <a:pt x="2650566" y="157937"/>
                  </a:lnTo>
                  <a:lnTo>
                    <a:pt x="2650566" y="79959"/>
                  </a:lnTo>
                  <a:lnTo>
                    <a:pt x="2644241" y="48959"/>
                  </a:lnTo>
                  <a:lnTo>
                    <a:pt x="2627037" y="23529"/>
                  </a:lnTo>
                  <a:lnTo>
                    <a:pt x="2601611" y="6324"/>
                  </a:lnTo>
                  <a:lnTo>
                    <a:pt x="2570619" y="0"/>
                  </a:lnTo>
                  <a:close/>
                </a:path>
              </a:pathLst>
            </a:custGeom>
            <a:solidFill>
              <a:srgbClr val="373A4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686587" y="2929978"/>
            <a:ext cx="495934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-25">
                <a:solidFill>
                  <a:srgbClr val="52576B"/>
                </a:solidFill>
                <a:latin typeface="Arial"/>
                <a:cs typeface="Arial"/>
              </a:rPr>
              <a:t>45%</a:t>
            </a:r>
            <a:endParaRPr sz="18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53573" y="3454234"/>
            <a:ext cx="6060440" cy="1024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>
                <a:solidFill>
                  <a:srgbClr val="52576B"/>
                </a:solidFill>
                <a:latin typeface="Arial"/>
                <a:cs typeface="Arial"/>
              </a:rPr>
              <a:t>Young</a:t>
            </a:r>
            <a:r>
              <a:rPr dirty="0" sz="185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52576B"/>
                </a:solidFill>
                <a:latin typeface="Arial"/>
                <a:cs typeface="Arial"/>
              </a:rPr>
              <a:t>Adults</a:t>
            </a:r>
            <a:r>
              <a:rPr dirty="0" sz="1850" spc="-2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52576B"/>
                </a:solidFill>
                <a:latin typeface="Arial"/>
                <a:cs typeface="Arial"/>
              </a:rPr>
              <a:t>(18-</a:t>
            </a:r>
            <a:r>
              <a:rPr dirty="0" sz="1850" spc="-25">
                <a:solidFill>
                  <a:srgbClr val="52576B"/>
                </a:solidFill>
                <a:latin typeface="Arial"/>
                <a:cs typeface="Arial"/>
              </a:rPr>
              <a:t>35)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35100"/>
              </a:lnSpc>
              <a:spcBef>
                <a:spcPts val="944"/>
              </a:spcBef>
            </a:pP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This</a:t>
            </a:r>
            <a:r>
              <a:rPr dirty="0" sz="145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demographic</a:t>
            </a:r>
            <a:r>
              <a:rPr dirty="0" sz="14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52576B"/>
                </a:solidFill>
                <a:latin typeface="Arial"/>
                <a:cs typeface="Arial"/>
              </a:rPr>
              <a:t>represents</a:t>
            </a:r>
            <a:r>
              <a:rPr dirty="0" sz="14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a</a:t>
            </a:r>
            <a:r>
              <a:rPr dirty="0" sz="14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52576B"/>
                </a:solidFill>
                <a:latin typeface="Arial"/>
                <a:cs typeface="Arial"/>
              </a:rPr>
              <a:t>significant</a:t>
            </a:r>
            <a:r>
              <a:rPr dirty="0" sz="14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portion</a:t>
            </a:r>
            <a:r>
              <a:rPr dirty="0" sz="14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of</a:t>
            </a:r>
            <a:r>
              <a:rPr dirty="0" sz="14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our</a:t>
            </a:r>
            <a:r>
              <a:rPr dirty="0" sz="145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revenue,</a:t>
            </a:r>
            <a:r>
              <a:rPr dirty="0" sz="14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52576B"/>
                </a:solidFill>
                <a:latin typeface="Arial"/>
                <a:cs typeface="Arial"/>
              </a:rPr>
              <a:t>showing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strong</a:t>
            </a:r>
            <a:r>
              <a:rPr dirty="0" sz="14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52576B"/>
                </a:solidFill>
                <a:latin typeface="Arial"/>
                <a:cs typeface="Arial"/>
              </a:rPr>
              <a:t>engagement</a:t>
            </a:r>
            <a:r>
              <a:rPr dirty="0" sz="145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and</a:t>
            </a:r>
            <a:r>
              <a:rPr dirty="0" sz="145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52576B"/>
                </a:solidFill>
                <a:latin typeface="Arial"/>
                <a:cs typeface="Arial"/>
              </a:rPr>
              <a:t>purchasing</a:t>
            </a:r>
            <a:r>
              <a:rPr dirty="0" sz="14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52576B"/>
                </a:solidFill>
                <a:latin typeface="Arial"/>
                <a:cs typeface="Arial"/>
              </a:rPr>
              <a:t>power.</a:t>
            </a:r>
            <a:endParaRPr sz="145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7430338" y="2982163"/>
            <a:ext cx="5909310" cy="245745"/>
            <a:chOff x="7430338" y="2982163"/>
            <a:chExt cx="5909310" cy="245745"/>
          </a:xfrm>
        </p:grpSpPr>
        <p:sp>
          <p:nvSpPr>
            <p:cNvPr id="11" name="object 11" descr=""/>
            <p:cNvSpPr/>
            <p:nvPr/>
          </p:nvSpPr>
          <p:spPr>
            <a:xfrm>
              <a:off x="7434148" y="2985973"/>
              <a:ext cx="5901690" cy="238125"/>
            </a:xfrm>
            <a:custGeom>
              <a:avLst/>
              <a:gdLst/>
              <a:ahLst/>
              <a:cxnLst/>
              <a:rect l="l" t="t" r="r" b="b"/>
              <a:pathLst>
                <a:path w="5901690" h="238125">
                  <a:moveTo>
                    <a:pt x="5821730" y="0"/>
                  </a:moveTo>
                  <a:lnTo>
                    <a:pt x="79953" y="0"/>
                  </a:lnTo>
                  <a:lnTo>
                    <a:pt x="48956" y="6324"/>
                  </a:lnTo>
                  <a:lnTo>
                    <a:pt x="23528" y="23529"/>
                  </a:lnTo>
                  <a:lnTo>
                    <a:pt x="6324" y="48959"/>
                  </a:lnTo>
                  <a:lnTo>
                    <a:pt x="0" y="79959"/>
                  </a:lnTo>
                  <a:lnTo>
                    <a:pt x="0" y="157937"/>
                  </a:lnTo>
                  <a:lnTo>
                    <a:pt x="6324" y="188929"/>
                  </a:lnTo>
                  <a:lnTo>
                    <a:pt x="23528" y="214355"/>
                  </a:lnTo>
                  <a:lnTo>
                    <a:pt x="48956" y="231558"/>
                  </a:lnTo>
                  <a:lnTo>
                    <a:pt x="79953" y="237883"/>
                  </a:lnTo>
                  <a:lnTo>
                    <a:pt x="5821730" y="237883"/>
                  </a:lnTo>
                  <a:lnTo>
                    <a:pt x="5852730" y="231558"/>
                  </a:lnTo>
                  <a:lnTo>
                    <a:pt x="5878160" y="214355"/>
                  </a:lnTo>
                  <a:lnTo>
                    <a:pt x="5895365" y="188929"/>
                  </a:lnTo>
                  <a:lnTo>
                    <a:pt x="5901690" y="157937"/>
                  </a:lnTo>
                  <a:lnTo>
                    <a:pt x="5901690" y="79959"/>
                  </a:lnTo>
                  <a:lnTo>
                    <a:pt x="5895365" y="48959"/>
                  </a:lnTo>
                  <a:lnTo>
                    <a:pt x="5878160" y="23529"/>
                  </a:lnTo>
                  <a:lnTo>
                    <a:pt x="5852730" y="6324"/>
                  </a:lnTo>
                  <a:lnTo>
                    <a:pt x="5821730" y="0"/>
                  </a:lnTo>
                  <a:close/>
                </a:path>
              </a:pathLst>
            </a:custGeom>
            <a:solidFill>
              <a:srgbClr val="E1E3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434148" y="2985973"/>
              <a:ext cx="5901690" cy="238125"/>
            </a:xfrm>
            <a:custGeom>
              <a:avLst/>
              <a:gdLst/>
              <a:ahLst/>
              <a:cxnLst/>
              <a:rect l="l" t="t" r="r" b="b"/>
              <a:pathLst>
                <a:path w="5901690" h="238125">
                  <a:moveTo>
                    <a:pt x="0" y="79959"/>
                  </a:moveTo>
                  <a:lnTo>
                    <a:pt x="6324" y="48959"/>
                  </a:lnTo>
                  <a:lnTo>
                    <a:pt x="23528" y="23529"/>
                  </a:lnTo>
                  <a:lnTo>
                    <a:pt x="48956" y="6324"/>
                  </a:lnTo>
                  <a:lnTo>
                    <a:pt x="79953" y="0"/>
                  </a:lnTo>
                  <a:lnTo>
                    <a:pt x="5821730" y="0"/>
                  </a:lnTo>
                  <a:lnTo>
                    <a:pt x="5852730" y="6324"/>
                  </a:lnTo>
                  <a:lnTo>
                    <a:pt x="5878160" y="23529"/>
                  </a:lnTo>
                  <a:lnTo>
                    <a:pt x="5895365" y="48959"/>
                  </a:lnTo>
                  <a:lnTo>
                    <a:pt x="5901690" y="79959"/>
                  </a:lnTo>
                  <a:lnTo>
                    <a:pt x="5901690" y="157937"/>
                  </a:lnTo>
                  <a:lnTo>
                    <a:pt x="5895365" y="188929"/>
                  </a:lnTo>
                  <a:lnTo>
                    <a:pt x="5878160" y="214355"/>
                  </a:lnTo>
                  <a:lnTo>
                    <a:pt x="5852730" y="231558"/>
                  </a:lnTo>
                  <a:lnTo>
                    <a:pt x="5821730" y="237883"/>
                  </a:lnTo>
                  <a:lnTo>
                    <a:pt x="79953" y="237883"/>
                  </a:lnTo>
                  <a:lnTo>
                    <a:pt x="48956" y="231558"/>
                  </a:lnTo>
                  <a:lnTo>
                    <a:pt x="23528" y="214355"/>
                  </a:lnTo>
                  <a:lnTo>
                    <a:pt x="6324" y="188929"/>
                  </a:lnTo>
                  <a:lnTo>
                    <a:pt x="0" y="157937"/>
                  </a:lnTo>
                  <a:lnTo>
                    <a:pt x="0" y="79959"/>
                  </a:lnTo>
                  <a:close/>
                </a:path>
              </a:pathLst>
            </a:custGeom>
            <a:ln w="7619">
              <a:solidFill>
                <a:srgbClr val="C7C9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434148" y="2985973"/>
              <a:ext cx="2065655" cy="238125"/>
            </a:xfrm>
            <a:custGeom>
              <a:avLst/>
              <a:gdLst/>
              <a:ahLst/>
              <a:cxnLst/>
              <a:rect l="l" t="t" r="r" b="b"/>
              <a:pathLst>
                <a:path w="2065654" h="238125">
                  <a:moveTo>
                    <a:pt x="1985543" y="0"/>
                  </a:moveTo>
                  <a:lnTo>
                    <a:pt x="79953" y="0"/>
                  </a:lnTo>
                  <a:lnTo>
                    <a:pt x="48956" y="6324"/>
                  </a:lnTo>
                  <a:lnTo>
                    <a:pt x="23528" y="23529"/>
                  </a:lnTo>
                  <a:lnTo>
                    <a:pt x="6324" y="48959"/>
                  </a:lnTo>
                  <a:lnTo>
                    <a:pt x="0" y="79959"/>
                  </a:lnTo>
                  <a:lnTo>
                    <a:pt x="0" y="157937"/>
                  </a:lnTo>
                  <a:lnTo>
                    <a:pt x="6324" y="188929"/>
                  </a:lnTo>
                  <a:lnTo>
                    <a:pt x="23528" y="214355"/>
                  </a:lnTo>
                  <a:lnTo>
                    <a:pt x="48956" y="231558"/>
                  </a:lnTo>
                  <a:lnTo>
                    <a:pt x="79953" y="237883"/>
                  </a:lnTo>
                  <a:lnTo>
                    <a:pt x="1985543" y="237883"/>
                  </a:lnTo>
                  <a:lnTo>
                    <a:pt x="2016540" y="231558"/>
                  </a:lnTo>
                  <a:lnTo>
                    <a:pt x="2041966" y="214355"/>
                  </a:lnTo>
                  <a:lnTo>
                    <a:pt x="2059166" y="188929"/>
                  </a:lnTo>
                  <a:lnTo>
                    <a:pt x="2065489" y="157937"/>
                  </a:lnTo>
                  <a:lnTo>
                    <a:pt x="2065489" y="79959"/>
                  </a:lnTo>
                  <a:lnTo>
                    <a:pt x="2059166" y="48959"/>
                  </a:lnTo>
                  <a:lnTo>
                    <a:pt x="2041966" y="23529"/>
                  </a:lnTo>
                  <a:lnTo>
                    <a:pt x="2016540" y="6324"/>
                  </a:lnTo>
                  <a:lnTo>
                    <a:pt x="1985543" y="0"/>
                  </a:lnTo>
                  <a:close/>
                </a:path>
              </a:pathLst>
            </a:custGeom>
            <a:solidFill>
              <a:srgbClr val="373A4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3465937" y="2929978"/>
            <a:ext cx="495934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-25">
                <a:solidFill>
                  <a:srgbClr val="52576B"/>
                </a:solidFill>
                <a:latin typeface="Arial"/>
                <a:cs typeface="Arial"/>
              </a:rPr>
              <a:t>35%</a:t>
            </a:r>
            <a:endParaRPr sz="185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421448" y="3454234"/>
            <a:ext cx="6349365" cy="1024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-10">
                <a:solidFill>
                  <a:srgbClr val="52576B"/>
                </a:solidFill>
                <a:latin typeface="Arial"/>
                <a:cs typeface="Arial"/>
              </a:rPr>
              <a:t>Middle-</a:t>
            </a:r>
            <a:r>
              <a:rPr dirty="0" sz="1850">
                <a:solidFill>
                  <a:srgbClr val="52576B"/>
                </a:solidFill>
                <a:latin typeface="Arial"/>
                <a:cs typeface="Arial"/>
              </a:rPr>
              <a:t>Aged</a:t>
            </a:r>
            <a:r>
              <a:rPr dirty="0" sz="1850" spc="2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52576B"/>
                </a:solidFill>
                <a:latin typeface="Arial"/>
                <a:cs typeface="Arial"/>
              </a:rPr>
              <a:t>(36-</a:t>
            </a:r>
            <a:r>
              <a:rPr dirty="0" sz="1850" spc="-25">
                <a:solidFill>
                  <a:srgbClr val="52576B"/>
                </a:solidFill>
                <a:latin typeface="Arial"/>
                <a:cs typeface="Arial"/>
              </a:rPr>
              <a:t>55)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35100"/>
              </a:lnSpc>
              <a:spcBef>
                <a:spcPts val="944"/>
              </a:spcBef>
            </a:pP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Another</a:t>
            </a:r>
            <a:r>
              <a:rPr dirty="0" sz="14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core</a:t>
            </a:r>
            <a:r>
              <a:rPr dirty="0" sz="14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revenue</a:t>
            </a:r>
            <a:r>
              <a:rPr dirty="0" sz="14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driver,</a:t>
            </a:r>
            <a:r>
              <a:rPr dirty="0" sz="14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this</a:t>
            </a:r>
            <a:r>
              <a:rPr dirty="0" sz="14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group</a:t>
            </a:r>
            <a:r>
              <a:rPr dirty="0" sz="14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often</a:t>
            </a:r>
            <a:r>
              <a:rPr dirty="0" sz="14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has</a:t>
            </a:r>
            <a:r>
              <a:rPr dirty="0" sz="14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52576B"/>
                </a:solidFill>
                <a:latin typeface="Arial"/>
                <a:cs typeface="Arial"/>
              </a:rPr>
              <a:t>established</a:t>
            </a:r>
            <a:r>
              <a:rPr dirty="0" sz="14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spending</a:t>
            </a:r>
            <a:r>
              <a:rPr dirty="0" sz="14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52576B"/>
                </a:solidFill>
                <a:latin typeface="Arial"/>
                <a:cs typeface="Arial"/>
              </a:rPr>
              <a:t>habits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and</a:t>
            </a:r>
            <a:r>
              <a:rPr dirty="0" sz="14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brand</a:t>
            </a:r>
            <a:r>
              <a:rPr dirty="0" sz="14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52576B"/>
                </a:solidFill>
                <a:latin typeface="Arial"/>
                <a:cs typeface="Arial"/>
              </a:rPr>
              <a:t>loyalty.</a:t>
            </a:r>
            <a:endParaRPr sz="1450">
              <a:latin typeface="Arial"/>
              <a:cs typeface="Arial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662463" y="4954435"/>
            <a:ext cx="5956300" cy="245745"/>
            <a:chOff x="662463" y="4954435"/>
            <a:chExt cx="5956300" cy="245745"/>
          </a:xfrm>
        </p:grpSpPr>
        <p:sp>
          <p:nvSpPr>
            <p:cNvPr id="17" name="object 17" descr=""/>
            <p:cNvSpPr/>
            <p:nvPr/>
          </p:nvSpPr>
          <p:spPr>
            <a:xfrm>
              <a:off x="666273" y="4958245"/>
              <a:ext cx="5948680" cy="238125"/>
            </a:xfrm>
            <a:custGeom>
              <a:avLst/>
              <a:gdLst/>
              <a:ahLst/>
              <a:cxnLst/>
              <a:rect l="l" t="t" r="r" b="b"/>
              <a:pathLst>
                <a:path w="5948680" h="238125">
                  <a:moveTo>
                    <a:pt x="5868530" y="0"/>
                  </a:moveTo>
                  <a:lnTo>
                    <a:pt x="79953" y="0"/>
                  </a:lnTo>
                  <a:lnTo>
                    <a:pt x="48956" y="6324"/>
                  </a:lnTo>
                  <a:lnTo>
                    <a:pt x="23528" y="23529"/>
                  </a:lnTo>
                  <a:lnTo>
                    <a:pt x="6324" y="48959"/>
                  </a:lnTo>
                  <a:lnTo>
                    <a:pt x="0" y="79959"/>
                  </a:lnTo>
                  <a:lnTo>
                    <a:pt x="0" y="157937"/>
                  </a:lnTo>
                  <a:lnTo>
                    <a:pt x="6324" y="188929"/>
                  </a:lnTo>
                  <a:lnTo>
                    <a:pt x="23528" y="214355"/>
                  </a:lnTo>
                  <a:lnTo>
                    <a:pt x="48956" y="231558"/>
                  </a:lnTo>
                  <a:lnTo>
                    <a:pt x="79953" y="237883"/>
                  </a:lnTo>
                  <a:lnTo>
                    <a:pt x="5868530" y="237883"/>
                  </a:lnTo>
                  <a:lnTo>
                    <a:pt x="5899522" y="231558"/>
                  </a:lnTo>
                  <a:lnTo>
                    <a:pt x="5924948" y="214355"/>
                  </a:lnTo>
                  <a:lnTo>
                    <a:pt x="5942152" y="188929"/>
                  </a:lnTo>
                  <a:lnTo>
                    <a:pt x="5948476" y="157937"/>
                  </a:lnTo>
                  <a:lnTo>
                    <a:pt x="5948476" y="79959"/>
                  </a:lnTo>
                  <a:lnTo>
                    <a:pt x="5942152" y="48959"/>
                  </a:lnTo>
                  <a:lnTo>
                    <a:pt x="5924948" y="23529"/>
                  </a:lnTo>
                  <a:lnTo>
                    <a:pt x="5899522" y="6324"/>
                  </a:lnTo>
                  <a:lnTo>
                    <a:pt x="5868530" y="0"/>
                  </a:lnTo>
                  <a:close/>
                </a:path>
              </a:pathLst>
            </a:custGeom>
            <a:solidFill>
              <a:srgbClr val="E1E3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66273" y="4958245"/>
              <a:ext cx="5948680" cy="238125"/>
            </a:xfrm>
            <a:custGeom>
              <a:avLst/>
              <a:gdLst/>
              <a:ahLst/>
              <a:cxnLst/>
              <a:rect l="l" t="t" r="r" b="b"/>
              <a:pathLst>
                <a:path w="5948680" h="238125">
                  <a:moveTo>
                    <a:pt x="0" y="79959"/>
                  </a:moveTo>
                  <a:lnTo>
                    <a:pt x="6324" y="48959"/>
                  </a:lnTo>
                  <a:lnTo>
                    <a:pt x="23528" y="23529"/>
                  </a:lnTo>
                  <a:lnTo>
                    <a:pt x="48956" y="6324"/>
                  </a:lnTo>
                  <a:lnTo>
                    <a:pt x="79953" y="0"/>
                  </a:lnTo>
                  <a:lnTo>
                    <a:pt x="5868530" y="0"/>
                  </a:lnTo>
                  <a:lnTo>
                    <a:pt x="5899522" y="6324"/>
                  </a:lnTo>
                  <a:lnTo>
                    <a:pt x="5924948" y="23529"/>
                  </a:lnTo>
                  <a:lnTo>
                    <a:pt x="5942152" y="48959"/>
                  </a:lnTo>
                  <a:lnTo>
                    <a:pt x="5948476" y="79959"/>
                  </a:lnTo>
                  <a:lnTo>
                    <a:pt x="5948476" y="157937"/>
                  </a:lnTo>
                  <a:lnTo>
                    <a:pt x="5942152" y="188929"/>
                  </a:lnTo>
                  <a:lnTo>
                    <a:pt x="5924948" y="214355"/>
                  </a:lnTo>
                  <a:lnTo>
                    <a:pt x="5899522" y="231558"/>
                  </a:lnTo>
                  <a:lnTo>
                    <a:pt x="5868530" y="237883"/>
                  </a:lnTo>
                  <a:lnTo>
                    <a:pt x="79953" y="237883"/>
                  </a:lnTo>
                  <a:lnTo>
                    <a:pt x="48956" y="231558"/>
                  </a:lnTo>
                  <a:lnTo>
                    <a:pt x="23528" y="214355"/>
                  </a:lnTo>
                  <a:lnTo>
                    <a:pt x="6324" y="188929"/>
                  </a:lnTo>
                  <a:lnTo>
                    <a:pt x="0" y="157937"/>
                  </a:lnTo>
                  <a:lnTo>
                    <a:pt x="0" y="79959"/>
                  </a:lnTo>
                  <a:close/>
                </a:path>
              </a:pathLst>
            </a:custGeom>
            <a:ln w="7619">
              <a:solidFill>
                <a:srgbClr val="C7C9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66273" y="4958245"/>
              <a:ext cx="892810" cy="238125"/>
            </a:xfrm>
            <a:custGeom>
              <a:avLst/>
              <a:gdLst/>
              <a:ahLst/>
              <a:cxnLst/>
              <a:rect l="l" t="t" r="r" b="b"/>
              <a:pathLst>
                <a:path w="892810" h="238125">
                  <a:moveTo>
                    <a:pt x="812299" y="0"/>
                  </a:moveTo>
                  <a:lnTo>
                    <a:pt x="79953" y="0"/>
                  </a:lnTo>
                  <a:lnTo>
                    <a:pt x="48956" y="6324"/>
                  </a:lnTo>
                  <a:lnTo>
                    <a:pt x="23528" y="23529"/>
                  </a:lnTo>
                  <a:lnTo>
                    <a:pt x="6324" y="48959"/>
                  </a:lnTo>
                  <a:lnTo>
                    <a:pt x="0" y="79959"/>
                  </a:lnTo>
                  <a:lnTo>
                    <a:pt x="0" y="157937"/>
                  </a:lnTo>
                  <a:lnTo>
                    <a:pt x="6324" y="188929"/>
                  </a:lnTo>
                  <a:lnTo>
                    <a:pt x="23528" y="214355"/>
                  </a:lnTo>
                  <a:lnTo>
                    <a:pt x="48956" y="231558"/>
                  </a:lnTo>
                  <a:lnTo>
                    <a:pt x="79953" y="237883"/>
                  </a:lnTo>
                  <a:lnTo>
                    <a:pt x="812299" y="237883"/>
                  </a:lnTo>
                  <a:lnTo>
                    <a:pt x="843296" y="231558"/>
                  </a:lnTo>
                  <a:lnTo>
                    <a:pt x="868724" y="214355"/>
                  </a:lnTo>
                  <a:lnTo>
                    <a:pt x="885929" y="188929"/>
                  </a:lnTo>
                  <a:lnTo>
                    <a:pt x="892253" y="157937"/>
                  </a:lnTo>
                  <a:lnTo>
                    <a:pt x="892253" y="79959"/>
                  </a:lnTo>
                  <a:lnTo>
                    <a:pt x="885929" y="48959"/>
                  </a:lnTo>
                  <a:lnTo>
                    <a:pt x="868724" y="23529"/>
                  </a:lnTo>
                  <a:lnTo>
                    <a:pt x="843296" y="6324"/>
                  </a:lnTo>
                  <a:lnTo>
                    <a:pt x="812299" y="0"/>
                  </a:lnTo>
                  <a:close/>
                </a:path>
              </a:pathLst>
            </a:custGeom>
            <a:solidFill>
              <a:srgbClr val="373A4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6744804" y="4902250"/>
            <a:ext cx="495934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-25">
                <a:solidFill>
                  <a:srgbClr val="52576B"/>
                </a:solidFill>
                <a:latin typeface="Arial"/>
                <a:cs typeface="Arial"/>
              </a:rPr>
              <a:t>15%</a:t>
            </a:r>
            <a:endParaRPr sz="185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53573" y="5426506"/>
            <a:ext cx="5854700" cy="1024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>
                <a:solidFill>
                  <a:srgbClr val="52576B"/>
                </a:solidFill>
                <a:latin typeface="Arial"/>
                <a:cs typeface="Arial"/>
              </a:rPr>
              <a:t>Adult</a:t>
            </a:r>
            <a:r>
              <a:rPr dirty="0" sz="185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52576B"/>
                </a:solidFill>
                <a:latin typeface="Arial"/>
                <a:cs typeface="Arial"/>
              </a:rPr>
              <a:t>(56-</a:t>
            </a:r>
            <a:r>
              <a:rPr dirty="0" sz="1850" spc="-25">
                <a:solidFill>
                  <a:srgbClr val="52576B"/>
                </a:solidFill>
                <a:latin typeface="Arial"/>
                <a:cs typeface="Arial"/>
              </a:rPr>
              <a:t>65)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35100"/>
              </a:lnSpc>
              <a:spcBef>
                <a:spcPts val="944"/>
              </a:spcBef>
            </a:pP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A</a:t>
            </a:r>
            <a:r>
              <a:rPr dirty="0" sz="14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smaller</a:t>
            </a:r>
            <a:r>
              <a:rPr dirty="0" sz="145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but</a:t>
            </a:r>
            <a:r>
              <a:rPr dirty="0" sz="14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still</a:t>
            </a:r>
            <a:r>
              <a:rPr dirty="0" sz="145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important</a:t>
            </a:r>
            <a:r>
              <a:rPr dirty="0" sz="14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segment,</a:t>
            </a:r>
            <a:r>
              <a:rPr dirty="0" sz="145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52576B"/>
                </a:solidFill>
                <a:latin typeface="Arial"/>
                <a:cs typeface="Arial"/>
              </a:rPr>
              <a:t>contributing</a:t>
            </a:r>
            <a:r>
              <a:rPr dirty="0" sz="145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52576B"/>
                </a:solidFill>
                <a:latin typeface="Arial"/>
                <a:cs typeface="Arial"/>
              </a:rPr>
              <a:t>consistently</a:t>
            </a:r>
            <a:r>
              <a:rPr dirty="0" sz="14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to</a:t>
            </a:r>
            <a:r>
              <a:rPr dirty="0" sz="145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52576B"/>
                </a:solidFill>
                <a:latin typeface="Arial"/>
                <a:cs typeface="Arial"/>
              </a:rPr>
              <a:t>overall revenue.</a:t>
            </a:r>
            <a:endParaRPr sz="1450">
              <a:latin typeface="Arial"/>
              <a:cs typeface="Arial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7430338" y="4954435"/>
            <a:ext cx="6051550" cy="245745"/>
            <a:chOff x="7430338" y="4954435"/>
            <a:chExt cx="6051550" cy="245745"/>
          </a:xfrm>
        </p:grpSpPr>
        <p:sp>
          <p:nvSpPr>
            <p:cNvPr id="23" name="object 23" descr=""/>
            <p:cNvSpPr/>
            <p:nvPr/>
          </p:nvSpPr>
          <p:spPr>
            <a:xfrm>
              <a:off x="7434148" y="4958245"/>
              <a:ext cx="6043930" cy="238125"/>
            </a:xfrm>
            <a:custGeom>
              <a:avLst/>
              <a:gdLst/>
              <a:ahLst/>
              <a:cxnLst/>
              <a:rect l="l" t="t" r="r" b="b"/>
              <a:pathLst>
                <a:path w="6043930" h="238125">
                  <a:moveTo>
                    <a:pt x="5963894" y="0"/>
                  </a:moveTo>
                  <a:lnTo>
                    <a:pt x="79953" y="0"/>
                  </a:lnTo>
                  <a:lnTo>
                    <a:pt x="48956" y="6324"/>
                  </a:lnTo>
                  <a:lnTo>
                    <a:pt x="23528" y="23529"/>
                  </a:lnTo>
                  <a:lnTo>
                    <a:pt x="6324" y="48959"/>
                  </a:lnTo>
                  <a:lnTo>
                    <a:pt x="0" y="79959"/>
                  </a:lnTo>
                  <a:lnTo>
                    <a:pt x="0" y="157937"/>
                  </a:lnTo>
                  <a:lnTo>
                    <a:pt x="6324" y="188929"/>
                  </a:lnTo>
                  <a:lnTo>
                    <a:pt x="23528" y="214355"/>
                  </a:lnTo>
                  <a:lnTo>
                    <a:pt x="48956" y="231558"/>
                  </a:lnTo>
                  <a:lnTo>
                    <a:pt x="79953" y="237883"/>
                  </a:lnTo>
                  <a:lnTo>
                    <a:pt x="5963894" y="237883"/>
                  </a:lnTo>
                  <a:lnTo>
                    <a:pt x="5994894" y="231558"/>
                  </a:lnTo>
                  <a:lnTo>
                    <a:pt x="6020323" y="214355"/>
                  </a:lnTo>
                  <a:lnTo>
                    <a:pt x="6037528" y="188929"/>
                  </a:lnTo>
                  <a:lnTo>
                    <a:pt x="6043853" y="157937"/>
                  </a:lnTo>
                  <a:lnTo>
                    <a:pt x="6043853" y="79959"/>
                  </a:lnTo>
                  <a:lnTo>
                    <a:pt x="6037528" y="48959"/>
                  </a:lnTo>
                  <a:lnTo>
                    <a:pt x="6020323" y="23529"/>
                  </a:lnTo>
                  <a:lnTo>
                    <a:pt x="5994894" y="6324"/>
                  </a:lnTo>
                  <a:lnTo>
                    <a:pt x="5963894" y="0"/>
                  </a:lnTo>
                  <a:close/>
                </a:path>
              </a:pathLst>
            </a:custGeom>
            <a:solidFill>
              <a:srgbClr val="E1E3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7434148" y="4958245"/>
              <a:ext cx="6043930" cy="238125"/>
            </a:xfrm>
            <a:custGeom>
              <a:avLst/>
              <a:gdLst/>
              <a:ahLst/>
              <a:cxnLst/>
              <a:rect l="l" t="t" r="r" b="b"/>
              <a:pathLst>
                <a:path w="6043930" h="238125">
                  <a:moveTo>
                    <a:pt x="0" y="79959"/>
                  </a:moveTo>
                  <a:lnTo>
                    <a:pt x="6324" y="48959"/>
                  </a:lnTo>
                  <a:lnTo>
                    <a:pt x="23528" y="23529"/>
                  </a:lnTo>
                  <a:lnTo>
                    <a:pt x="48956" y="6324"/>
                  </a:lnTo>
                  <a:lnTo>
                    <a:pt x="79953" y="0"/>
                  </a:lnTo>
                  <a:lnTo>
                    <a:pt x="5963894" y="0"/>
                  </a:lnTo>
                  <a:lnTo>
                    <a:pt x="5994894" y="6324"/>
                  </a:lnTo>
                  <a:lnTo>
                    <a:pt x="6020323" y="23529"/>
                  </a:lnTo>
                  <a:lnTo>
                    <a:pt x="6037528" y="48959"/>
                  </a:lnTo>
                  <a:lnTo>
                    <a:pt x="6043853" y="79959"/>
                  </a:lnTo>
                  <a:lnTo>
                    <a:pt x="6043853" y="157937"/>
                  </a:lnTo>
                  <a:lnTo>
                    <a:pt x="6037528" y="188929"/>
                  </a:lnTo>
                  <a:lnTo>
                    <a:pt x="6020323" y="214355"/>
                  </a:lnTo>
                  <a:lnTo>
                    <a:pt x="5994894" y="231558"/>
                  </a:lnTo>
                  <a:lnTo>
                    <a:pt x="5963894" y="237883"/>
                  </a:lnTo>
                  <a:lnTo>
                    <a:pt x="79953" y="237883"/>
                  </a:lnTo>
                  <a:lnTo>
                    <a:pt x="48956" y="231558"/>
                  </a:lnTo>
                  <a:lnTo>
                    <a:pt x="23528" y="214355"/>
                  </a:lnTo>
                  <a:lnTo>
                    <a:pt x="6324" y="188929"/>
                  </a:lnTo>
                  <a:lnTo>
                    <a:pt x="0" y="157937"/>
                  </a:lnTo>
                  <a:lnTo>
                    <a:pt x="0" y="79959"/>
                  </a:lnTo>
                  <a:close/>
                </a:path>
              </a:pathLst>
            </a:custGeom>
            <a:ln w="7619">
              <a:solidFill>
                <a:srgbClr val="C7C9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434148" y="4958245"/>
              <a:ext cx="302260" cy="238125"/>
            </a:xfrm>
            <a:custGeom>
              <a:avLst/>
              <a:gdLst/>
              <a:ahLst/>
              <a:cxnLst/>
              <a:rect l="l" t="t" r="r" b="b"/>
              <a:pathLst>
                <a:path w="302259" h="238125">
                  <a:moveTo>
                    <a:pt x="222227" y="0"/>
                  </a:moveTo>
                  <a:lnTo>
                    <a:pt x="79953" y="0"/>
                  </a:lnTo>
                  <a:lnTo>
                    <a:pt x="48956" y="6324"/>
                  </a:lnTo>
                  <a:lnTo>
                    <a:pt x="23528" y="23529"/>
                  </a:lnTo>
                  <a:lnTo>
                    <a:pt x="6324" y="48959"/>
                  </a:lnTo>
                  <a:lnTo>
                    <a:pt x="0" y="79959"/>
                  </a:lnTo>
                  <a:lnTo>
                    <a:pt x="0" y="157937"/>
                  </a:lnTo>
                  <a:lnTo>
                    <a:pt x="6324" y="188929"/>
                  </a:lnTo>
                  <a:lnTo>
                    <a:pt x="23528" y="214355"/>
                  </a:lnTo>
                  <a:lnTo>
                    <a:pt x="48956" y="231558"/>
                  </a:lnTo>
                  <a:lnTo>
                    <a:pt x="79953" y="237883"/>
                  </a:lnTo>
                  <a:lnTo>
                    <a:pt x="222227" y="237883"/>
                  </a:lnTo>
                  <a:lnTo>
                    <a:pt x="253223" y="231558"/>
                  </a:lnTo>
                  <a:lnTo>
                    <a:pt x="278651" y="214355"/>
                  </a:lnTo>
                  <a:lnTo>
                    <a:pt x="295856" y="188929"/>
                  </a:lnTo>
                  <a:lnTo>
                    <a:pt x="302181" y="157937"/>
                  </a:lnTo>
                  <a:lnTo>
                    <a:pt x="302181" y="79959"/>
                  </a:lnTo>
                  <a:lnTo>
                    <a:pt x="295856" y="48959"/>
                  </a:lnTo>
                  <a:lnTo>
                    <a:pt x="278651" y="23529"/>
                  </a:lnTo>
                  <a:lnTo>
                    <a:pt x="253223" y="6324"/>
                  </a:lnTo>
                  <a:lnTo>
                    <a:pt x="222227" y="0"/>
                  </a:lnTo>
                  <a:close/>
                </a:path>
              </a:pathLst>
            </a:custGeom>
            <a:solidFill>
              <a:srgbClr val="373A4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13608050" y="4902250"/>
            <a:ext cx="36512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-25">
                <a:solidFill>
                  <a:srgbClr val="52576B"/>
                </a:solidFill>
                <a:latin typeface="Arial"/>
                <a:cs typeface="Arial"/>
              </a:rPr>
              <a:t>5%</a:t>
            </a:r>
            <a:endParaRPr sz="1850">
              <a:latin typeface="Arial"/>
              <a:cs typeface="Arial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7421448" y="5426506"/>
            <a:ext cx="6315710" cy="1024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>
                <a:solidFill>
                  <a:srgbClr val="52576B"/>
                </a:solidFill>
                <a:latin typeface="Arial"/>
                <a:cs typeface="Arial"/>
              </a:rPr>
              <a:t>Old</a:t>
            </a:r>
            <a:r>
              <a:rPr dirty="0" sz="1850" spc="-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850" spc="-20">
                <a:solidFill>
                  <a:srgbClr val="52576B"/>
                </a:solidFill>
                <a:latin typeface="Arial"/>
                <a:cs typeface="Arial"/>
              </a:rPr>
              <a:t>(66+)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35100"/>
              </a:lnSpc>
              <a:spcBef>
                <a:spcPts val="944"/>
              </a:spcBef>
            </a:pP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This</a:t>
            </a:r>
            <a:r>
              <a:rPr dirty="0" sz="14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group</a:t>
            </a:r>
            <a:r>
              <a:rPr dirty="0" sz="14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currently</a:t>
            </a:r>
            <a:r>
              <a:rPr dirty="0" sz="14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52576B"/>
                </a:solidFill>
                <a:latin typeface="Arial"/>
                <a:cs typeface="Arial"/>
              </a:rPr>
              <a:t>contributes</a:t>
            </a:r>
            <a:r>
              <a:rPr dirty="0" sz="14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the</a:t>
            </a:r>
            <a:r>
              <a:rPr dirty="0" sz="14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least</a:t>
            </a:r>
            <a:r>
              <a:rPr dirty="0" sz="14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to</a:t>
            </a:r>
            <a:r>
              <a:rPr dirty="0" sz="14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revenue.</a:t>
            </a:r>
            <a:r>
              <a:rPr dirty="0" sz="14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 spc="-20">
                <a:solidFill>
                  <a:srgbClr val="52576B"/>
                </a:solidFill>
                <a:latin typeface="Arial"/>
                <a:cs typeface="Arial"/>
              </a:rPr>
              <a:t>Re-</a:t>
            </a:r>
            <a:r>
              <a:rPr dirty="0" sz="1450" spc="-10">
                <a:solidFill>
                  <a:srgbClr val="52576B"/>
                </a:solidFill>
                <a:latin typeface="Arial"/>
                <a:cs typeface="Arial"/>
              </a:rPr>
              <a:t>evaluating</a:t>
            </a:r>
            <a:r>
              <a:rPr dirty="0" sz="14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ad</a:t>
            </a:r>
            <a:r>
              <a:rPr dirty="0" sz="14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52576B"/>
                </a:solidFill>
                <a:latin typeface="Arial"/>
                <a:cs typeface="Arial"/>
              </a:rPr>
              <a:t>spend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for</a:t>
            </a:r>
            <a:r>
              <a:rPr dirty="0" sz="14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this</a:t>
            </a:r>
            <a:r>
              <a:rPr dirty="0" sz="14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demographic</a:t>
            </a:r>
            <a:r>
              <a:rPr dirty="0" sz="14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could</a:t>
            </a:r>
            <a:r>
              <a:rPr dirty="0" sz="14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optimize</a:t>
            </a:r>
            <a:r>
              <a:rPr dirty="0" sz="14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 spc="-20">
                <a:solidFill>
                  <a:srgbClr val="52576B"/>
                </a:solidFill>
                <a:latin typeface="Arial"/>
                <a:cs typeface="Arial"/>
              </a:rPr>
              <a:t>ROI.</a:t>
            </a:r>
            <a:endParaRPr sz="1450">
              <a:latin typeface="Arial"/>
              <a:cs typeface="Arial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939086" y="6866280"/>
            <a:ext cx="13007975" cy="622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5100"/>
              </a:lnSpc>
              <a:spcBef>
                <a:spcPts val="100"/>
              </a:spcBef>
            </a:pPr>
            <a:r>
              <a:rPr dirty="0" sz="1450" b="1">
                <a:solidFill>
                  <a:srgbClr val="52576B"/>
                </a:solidFill>
                <a:latin typeface="Arial"/>
                <a:cs typeface="Arial"/>
              </a:rPr>
              <a:t>Why</a:t>
            </a:r>
            <a:r>
              <a:rPr dirty="0" sz="1450" spc="-45" b="1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52576B"/>
                </a:solidFill>
                <a:latin typeface="Arial"/>
                <a:cs typeface="Arial"/>
              </a:rPr>
              <a:t>This</a:t>
            </a:r>
            <a:r>
              <a:rPr dirty="0" sz="1450" spc="-45" b="1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52576B"/>
                </a:solidFill>
                <a:latin typeface="Arial"/>
                <a:cs typeface="Arial"/>
              </a:rPr>
              <a:t>Matters:</a:t>
            </a:r>
            <a:r>
              <a:rPr dirty="0" sz="1450" spc="-40" b="1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By</a:t>
            </a:r>
            <a:r>
              <a:rPr dirty="0" sz="14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52576B"/>
                </a:solidFill>
                <a:latin typeface="Arial"/>
                <a:cs typeface="Arial"/>
              </a:rPr>
              <a:t>understanding</a:t>
            </a:r>
            <a:r>
              <a:rPr dirty="0" sz="14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which</a:t>
            </a:r>
            <a:r>
              <a:rPr dirty="0" sz="145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age</a:t>
            </a:r>
            <a:r>
              <a:rPr dirty="0" sz="14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groups</a:t>
            </a:r>
            <a:r>
              <a:rPr dirty="0" sz="14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are</a:t>
            </a:r>
            <a:r>
              <a:rPr dirty="0" sz="145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our</a:t>
            </a:r>
            <a:r>
              <a:rPr dirty="0" sz="14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primary</a:t>
            </a:r>
            <a:r>
              <a:rPr dirty="0" sz="14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revenue</a:t>
            </a:r>
            <a:r>
              <a:rPr dirty="0" sz="145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engines,</a:t>
            </a:r>
            <a:r>
              <a:rPr dirty="0" sz="14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we</a:t>
            </a:r>
            <a:r>
              <a:rPr dirty="0" sz="14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can</a:t>
            </a:r>
            <a:r>
              <a:rPr dirty="0" sz="145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strategically</a:t>
            </a:r>
            <a:r>
              <a:rPr dirty="0" sz="14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allocate</a:t>
            </a:r>
            <a:r>
              <a:rPr dirty="0" sz="145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marketing</a:t>
            </a:r>
            <a:r>
              <a:rPr dirty="0" sz="14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52576B"/>
                </a:solidFill>
                <a:latin typeface="Arial"/>
                <a:cs typeface="Arial"/>
              </a:rPr>
              <a:t>resources.</a:t>
            </a:r>
            <a:r>
              <a:rPr dirty="0" sz="14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This</a:t>
            </a:r>
            <a:r>
              <a:rPr dirty="0" sz="145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enables</a:t>
            </a:r>
            <a:r>
              <a:rPr dirty="0" sz="14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us</a:t>
            </a:r>
            <a:r>
              <a:rPr dirty="0" sz="145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 spc="-25">
                <a:solidFill>
                  <a:srgbClr val="52576B"/>
                </a:solidFill>
                <a:latin typeface="Arial"/>
                <a:cs typeface="Arial"/>
              </a:rPr>
              <a:t>to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either</a:t>
            </a:r>
            <a:r>
              <a:rPr dirty="0" sz="145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cease</a:t>
            </a:r>
            <a:r>
              <a:rPr dirty="0" sz="14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wasting</a:t>
            </a:r>
            <a:r>
              <a:rPr dirty="0" sz="14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ad</a:t>
            </a:r>
            <a:r>
              <a:rPr dirty="0" sz="14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spend</a:t>
            </a:r>
            <a:r>
              <a:rPr dirty="0" sz="14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on</a:t>
            </a:r>
            <a:r>
              <a:rPr dirty="0" sz="14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less</a:t>
            </a:r>
            <a:r>
              <a:rPr dirty="0" sz="14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profitable</a:t>
            </a:r>
            <a:r>
              <a:rPr dirty="0" sz="14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demographics</a:t>
            </a:r>
            <a:r>
              <a:rPr dirty="0" sz="14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or</a:t>
            </a:r>
            <a:r>
              <a:rPr dirty="0" sz="14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specifically</a:t>
            </a:r>
            <a:r>
              <a:rPr dirty="0" sz="14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tailor</a:t>
            </a:r>
            <a:r>
              <a:rPr dirty="0" sz="14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campaigns</a:t>
            </a:r>
            <a:r>
              <a:rPr dirty="0" sz="14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to</a:t>
            </a:r>
            <a:r>
              <a:rPr dirty="0" sz="14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engage</a:t>
            </a:r>
            <a:r>
              <a:rPr dirty="0" sz="14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them</a:t>
            </a:r>
            <a:r>
              <a:rPr dirty="0" sz="14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52576B"/>
                </a:solidFill>
                <a:latin typeface="Arial"/>
                <a:cs typeface="Arial"/>
              </a:rPr>
              <a:t>more</a:t>
            </a:r>
            <a:r>
              <a:rPr dirty="0" sz="145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52576B"/>
                </a:solidFill>
                <a:latin typeface="Arial"/>
                <a:cs typeface="Arial"/>
              </a:rPr>
              <a:t>effectively.</a:t>
            </a:r>
            <a:endParaRPr sz="1450">
              <a:latin typeface="Arial"/>
              <a:cs typeface="Arial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666273" y="6668808"/>
            <a:ext cx="22860" cy="1037590"/>
          </a:xfrm>
          <a:custGeom>
            <a:avLst/>
            <a:gdLst/>
            <a:ahLst/>
            <a:cxnLst/>
            <a:rect l="l" t="t" r="r" b="b"/>
            <a:pathLst>
              <a:path w="22859" h="1037590">
                <a:moveTo>
                  <a:pt x="22860" y="0"/>
                </a:moveTo>
                <a:lnTo>
                  <a:pt x="0" y="0"/>
                </a:lnTo>
                <a:lnTo>
                  <a:pt x="0" y="1037272"/>
                </a:lnTo>
                <a:lnTo>
                  <a:pt x="22860" y="1037272"/>
                </a:lnTo>
                <a:lnTo>
                  <a:pt x="22860" y="0"/>
                </a:lnTo>
                <a:close/>
              </a:path>
            </a:pathLst>
          </a:custGeom>
          <a:solidFill>
            <a:srgbClr val="373A47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91886" y="388908"/>
            <a:ext cx="26924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373A47"/>
                </a:solidFill>
                <a:latin typeface="Arial"/>
                <a:cs typeface="Arial"/>
              </a:rPr>
              <a:t>SQL</a:t>
            </a:r>
            <a:r>
              <a:rPr dirty="0" sz="1400" spc="-40">
                <a:solidFill>
                  <a:srgbClr val="373A47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3A47"/>
                </a:solidFill>
                <a:latin typeface="Arial"/>
                <a:cs typeface="Arial"/>
              </a:rPr>
              <a:t>DATA</a:t>
            </a:r>
            <a:r>
              <a:rPr dirty="0" sz="1400" spc="-40">
                <a:solidFill>
                  <a:srgbClr val="373A47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373A47"/>
                </a:solidFill>
                <a:latin typeface="Arial"/>
                <a:cs typeface="Arial"/>
              </a:rPr>
              <a:t>ANALYSIS</a:t>
            </a:r>
            <a:r>
              <a:rPr dirty="0" sz="1400" spc="-40">
                <a:solidFill>
                  <a:srgbClr val="373A47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373A47"/>
                </a:solidFill>
                <a:latin typeface="Arial"/>
                <a:cs typeface="Arial"/>
              </a:rPr>
              <a:t>RESULTS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1886" y="676933"/>
            <a:ext cx="952119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/>
              <a:t>Uncovering</a:t>
            </a:r>
            <a:r>
              <a:rPr dirty="0" sz="2800" spc="-125"/>
              <a:t> </a:t>
            </a:r>
            <a:r>
              <a:rPr dirty="0" sz="2800"/>
              <a:t>"Hero</a:t>
            </a:r>
            <a:r>
              <a:rPr dirty="0" sz="2800" spc="-120"/>
              <a:t> </a:t>
            </a:r>
            <a:r>
              <a:rPr dirty="0" sz="2800"/>
              <a:t>Products":</a:t>
            </a:r>
            <a:r>
              <a:rPr dirty="0" sz="2800" spc="-120"/>
              <a:t> </a:t>
            </a:r>
            <a:r>
              <a:rPr dirty="0" sz="2800" spc="-25"/>
              <a:t>Top-</a:t>
            </a:r>
            <a:r>
              <a:rPr dirty="0" sz="2800"/>
              <a:t>Rated</a:t>
            </a:r>
            <a:r>
              <a:rPr dirty="0" sz="2800" spc="-120"/>
              <a:t> </a:t>
            </a:r>
            <a:r>
              <a:rPr dirty="0" sz="2800"/>
              <a:t>Customer</a:t>
            </a:r>
            <a:r>
              <a:rPr dirty="0" sz="2800" spc="-120"/>
              <a:t> </a:t>
            </a:r>
            <a:r>
              <a:rPr dirty="0" sz="2800" spc="-10"/>
              <a:t>Favorites</a:t>
            </a:r>
            <a:endParaRPr sz="28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8676" y="1901189"/>
            <a:ext cx="7063117" cy="632840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Identifying</a:t>
            </a:r>
            <a:r>
              <a:rPr dirty="0" spc="-30"/>
              <a:t> </a:t>
            </a:r>
            <a:r>
              <a:rPr dirty="0"/>
              <a:t>products</a:t>
            </a:r>
            <a:r>
              <a:rPr dirty="0" spc="-25"/>
              <a:t> </a:t>
            </a:r>
            <a:r>
              <a:rPr dirty="0"/>
              <a:t>with</a:t>
            </a:r>
            <a:r>
              <a:rPr dirty="0" spc="-25"/>
              <a:t> </a:t>
            </a:r>
            <a:r>
              <a:rPr dirty="0"/>
              <a:t>high</a:t>
            </a:r>
            <a:r>
              <a:rPr dirty="0" spc="-30"/>
              <a:t> </a:t>
            </a:r>
            <a:r>
              <a:rPr dirty="0"/>
              <a:t>customer</a:t>
            </a:r>
            <a:r>
              <a:rPr dirty="0" spc="-25"/>
              <a:t> </a:t>
            </a:r>
            <a:r>
              <a:rPr dirty="0"/>
              <a:t>satisfaction</a:t>
            </a:r>
            <a:r>
              <a:rPr dirty="0" spc="-25"/>
              <a:t> </a:t>
            </a:r>
            <a:r>
              <a:rPr dirty="0"/>
              <a:t>allows</a:t>
            </a:r>
            <a:r>
              <a:rPr dirty="0" spc="-25"/>
              <a:t> </a:t>
            </a:r>
            <a:r>
              <a:rPr dirty="0"/>
              <a:t>us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25"/>
              <a:t> </a:t>
            </a:r>
            <a:r>
              <a:rPr dirty="0" spc="-10"/>
              <a:t>leverage</a:t>
            </a:r>
            <a:r>
              <a:rPr dirty="0" spc="-25"/>
              <a:t> </a:t>
            </a:r>
            <a:r>
              <a:rPr dirty="0"/>
              <a:t>social</a:t>
            </a:r>
            <a:r>
              <a:rPr dirty="0" spc="-25"/>
              <a:t> </a:t>
            </a:r>
            <a:r>
              <a:rPr dirty="0"/>
              <a:t>proof</a:t>
            </a:r>
            <a:r>
              <a:rPr dirty="0" spc="-30"/>
              <a:t> </a:t>
            </a:r>
            <a:r>
              <a:rPr dirty="0"/>
              <a:t>in</a:t>
            </a:r>
            <a:r>
              <a:rPr dirty="0" spc="-25"/>
              <a:t> </a:t>
            </a:r>
            <a:r>
              <a:rPr dirty="0"/>
              <a:t>marketing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/>
              <a:t>enhance</a:t>
            </a:r>
            <a:r>
              <a:rPr dirty="0" spc="-30"/>
              <a:t> </a:t>
            </a:r>
            <a:r>
              <a:rPr dirty="0"/>
              <a:t>buyer</a:t>
            </a:r>
            <a:r>
              <a:rPr dirty="0" spc="-25"/>
              <a:t> </a:t>
            </a:r>
            <a:r>
              <a:rPr dirty="0" spc="-10"/>
              <a:t>trust.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260"/>
              </a:spcBef>
            </a:p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b="1">
                <a:latin typeface="Arial"/>
                <a:cs typeface="Arial"/>
              </a:rPr>
              <a:t>Gloves: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Consistently</a:t>
            </a:r>
            <a:r>
              <a:rPr dirty="0" spc="-20"/>
              <a:t> </a:t>
            </a:r>
            <a:r>
              <a:rPr dirty="0" spc="-10"/>
              <a:t>received</a:t>
            </a:r>
            <a:r>
              <a:rPr dirty="0" spc="-20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/>
              <a:t>highest</a:t>
            </a:r>
            <a:r>
              <a:rPr dirty="0" spc="-25"/>
              <a:t> </a:t>
            </a:r>
            <a:r>
              <a:rPr dirty="0"/>
              <a:t>review</a:t>
            </a:r>
            <a:r>
              <a:rPr dirty="0" spc="-20"/>
              <a:t> </a:t>
            </a:r>
            <a:r>
              <a:rPr dirty="0"/>
              <a:t>ratings,</a:t>
            </a:r>
            <a:r>
              <a:rPr dirty="0" spc="-20"/>
              <a:t> </a:t>
            </a:r>
            <a:r>
              <a:rPr dirty="0" spc="-10"/>
              <a:t>indicating</a:t>
            </a:r>
            <a:r>
              <a:rPr dirty="0" spc="-20"/>
              <a:t> </a:t>
            </a:r>
            <a:r>
              <a:rPr dirty="0" spc="-10"/>
              <a:t>exceptional</a:t>
            </a:r>
            <a:r>
              <a:rPr dirty="0" spc="-25"/>
              <a:t> </a:t>
            </a:r>
            <a:r>
              <a:rPr dirty="0"/>
              <a:t>customer</a:t>
            </a:r>
            <a:r>
              <a:rPr dirty="0" spc="-20"/>
              <a:t> </a:t>
            </a:r>
            <a:r>
              <a:rPr dirty="0" spc="-10"/>
              <a:t>satisfaction.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175"/>
              </a:spcBef>
            </a:pPr>
          </a:p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Sandals: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Another</a:t>
            </a:r>
            <a:r>
              <a:rPr dirty="0" spc="-20"/>
              <a:t> </a:t>
            </a:r>
            <a:r>
              <a:rPr dirty="0" spc="-10"/>
              <a:t>top-</a:t>
            </a:r>
            <a:r>
              <a:rPr dirty="0"/>
              <a:t>performing</a:t>
            </a:r>
            <a:r>
              <a:rPr dirty="0" spc="-25"/>
              <a:t> </a:t>
            </a:r>
            <a:r>
              <a:rPr dirty="0"/>
              <a:t>product,</a:t>
            </a:r>
            <a:r>
              <a:rPr dirty="0" spc="-20"/>
              <a:t> </a:t>
            </a:r>
            <a:r>
              <a:rPr dirty="0"/>
              <a:t>highly</a:t>
            </a:r>
            <a:r>
              <a:rPr dirty="0" spc="-20"/>
              <a:t> </a:t>
            </a:r>
            <a:r>
              <a:rPr dirty="0"/>
              <a:t>praised</a:t>
            </a:r>
            <a:r>
              <a:rPr dirty="0" spc="-25"/>
              <a:t> </a:t>
            </a:r>
            <a:r>
              <a:rPr dirty="0"/>
              <a:t>by</a:t>
            </a:r>
            <a:r>
              <a:rPr dirty="0" spc="-20"/>
              <a:t> </a:t>
            </a:r>
            <a:r>
              <a:rPr dirty="0"/>
              <a:t>customers</a:t>
            </a:r>
            <a:r>
              <a:rPr dirty="0" spc="-25"/>
              <a:t> </a:t>
            </a:r>
            <a:r>
              <a:rPr dirty="0"/>
              <a:t>for</a:t>
            </a:r>
            <a:r>
              <a:rPr dirty="0" spc="-20"/>
              <a:t> </a:t>
            </a:r>
            <a:r>
              <a:rPr dirty="0"/>
              <a:t>quality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 spc="-10"/>
              <a:t>value.</a:t>
            </a:r>
          </a:p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dirty="0" b="1">
                <a:latin typeface="Arial"/>
                <a:cs typeface="Arial"/>
              </a:rPr>
              <a:t>Coats:</a:t>
            </a:r>
            <a:r>
              <a:rPr dirty="0" spc="-35" b="1">
                <a:latin typeface="Arial"/>
                <a:cs typeface="Arial"/>
              </a:rPr>
              <a:t> </a:t>
            </a:r>
            <a:r>
              <a:rPr dirty="0"/>
              <a:t>Strong</a:t>
            </a:r>
            <a:r>
              <a:rPr dirty="0" spc="-35"/>
              <a:t> </a:t>
            </a:r>
            <a:r>
              <a:rPr dirty="0"/>
              <a:t>positive</a:t>
            </a:r>
            <a:r>
              <a:rPr dirty="0" spc="-35"/>
              <a:t> </a:t>
            </a:r>
            <a:r>
              <a:rPr dirty="0"/>
              <a:t>feedback,</a:t>
            </a:r>
            <a:r>
              <a:rPr dirty="0" spc="-30"/>
              <a:t> </a:t>
            </a:r>
            <a:r>
              <a:rPr dirty="0"/>
              <a:t>making</a:t>
            </a:r>
            <a:r>
              <a:rPr dirty="0" spc="-35"/>
              <a:t> </a:t>
            </a:r>
            <a:r>
              <a:rPr dirty="0"/>
              <a:t>them</a:t>
            </a:r>
            <a:r>
              <a:rPr dirty="0" spc="-35"/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/>
              <a:t>reliable</a:t>
            </a:r>
            <a:r>
              <a:rPr dirty="0" spc="-35"/>
              <a:t> </a:t>
            </a:r>
            <a:r>
              <a:rPr dirty="0"/>
              <a:t>choice</a:t>
            </a:r>
            <a:r>
              <a:rPr dirty="0" spc="-35"/>
              <a:t> </a:t>
            </a:r>
            <a:r>
              <a:rPr dirty="0"/>
              <a:t>for</a:t>
            </a:r>
            <a:r>
              <a:rPr dirty="0" spc="-30"/>
              <a:t> </a:t>
            </a:r>
            <a:r>
              <a:rPr dirty="0"/>
              <a:t>customer</a:t>
            </a:r>
            <a:r>
              <a:rPr dirty="0" spc="-35"/>
              <a:t> </a:t>
            </a:r>
            <a:r>
              <a:rPr dirty="0" spc="-10"/>
              <a:t>delight.</a:t>
            </a: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b="1">
                <a:latin typeface="Arial"/>
                <a:cs typeface="Arial"/>
              </a:rPr>
              <a:t>Jewelry:</a:t>
            </a:r>
            <a:r>
              <a:rPr dirty="0" spc="-35" b="1">
                <a:latin typeface="Arial"/>
                <a:cs typeface="Arial"/>
              </a:rPr>
              <a:t> </a:t>
            </a:r>
            <a:r>
              <a:rPr dirty="0" spc="-20"/>
              <a:t>High-</a:t>
            </a:r>
            <a:r>
              <a:rPr dirty="0"/>
              <a:t>rated</a:t>
            </a:r>
            <a:r>
              <a:rPr dirty="0" spc="-30"/>
              <a:t> </a:t>
            </a:r>
            <a:r>
              <a:rPr dirty="0"/>
              <a:t>for</a:t>
            </a:r>
            <a:r>
              <a:rPr dirty="0" spc="-35"/>
              <a:t> </a:t>
            </a:r>
            <a:r>
              <a:rPr dirty="0"/>
              <a:t>design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quality,</a:t>
            </a:r>
            <a:r>
              <a:rPr dirty="0" spc="-35"/>
              <a:t> </a:t>
            </a:r>
            <a:r>
              <a:rPr dirty="0"/>
              <a:t>driving</a:t>
            </a:r>
            <a:r>
              <a:rPr dirty="0" spc="-30"/>
              <a:t> </a:t>
            </a:r>
            <a:r>
              <a:rPr dirty="0"/>
              <a:t>positive</a:t>
            </a:r>
            <a:r>
              <a:rPr dirty="0" spc="-35"/>
              <a:t> </a:t>
            </a:r>
            <a:r>
              <a:rPr dirty="0"/>
              <a:t>customer</a:t>
            </a:r>
            <a:r>
              <a:rPr dirty="0" spc="-30"/>
              <a:t> </a:t>
            </a:r>
            <a:r>
              <a:rPr dirty="0" spc="-10"/>
              <a:t>sentiment.</a:t>
            </a:r>
          </a:p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dirty="0" b="1">
                <a:latin typeface="Arial"/>
                <a:cs typeface="Arial"/>
              </a:rPr>
              <a:t>Dresses: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A</a:t>
            </a:r>
            <a:r>
              <a:rPr dirty="0" spc="-20"/>
              <a:t> </a:t>
            </a:r>
            <a:r>
              <a:rPr dirty="0"/>
              <a:t>popular</a:t>
            </a:r>
            <a:r>
              <a:rPr dirty="0" spc="-20"/>
              <a:t> </a:t>
            </a:r>
            <a:r>
              <a:rPr dirty="0"/>
              <a:t>category</a:t>
            </a:r>
            <a:r>
              <a:rPr dirty="0" spc="-20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/>
              <a:t>strong</a:t>
            </a:r>
            <a:r>
              <a:rPr dirty="0" spc="-25"/>
              <a:t> </a:t>
            </a:r>
            <a:r>
              <a:rPr dirty="0"/>
              <a:t>review</a:t>
            </a:r>
            <a:r>
              <a:rPr dirty="0" spc="-20"/>
              <a:t> </a:t>
            </a:r>
            <a:r>
              <a:rPr dirty="0"/>
              <a:t>ratings,</a:t>
            </a:r>
            <a:r>
              <a:rPr dirty="0" spc="-20"/>
              <a:t> </a:t>
            </a:r>
            <a:r>
              <a:rPr dirty="0" spc="-10"/>
              <a:t>appealing</a:t>
            </a:r>
            <a:r>
              <a:rPr dirty="0" spc="-20"/>
              <a:t> </a:t>
            </a:r>
            <a:r>
              <a:rPr dirty="0"/>
              <a:t>to</a:t>
            </a:r>
            <a:r>
              <a:rPr dirty="0" spc="-20"/>
              <a:t> </a:t>
            </a:r>
            <a:r>
              <a:rPr dirty="0"/>
              <a:t>a</a:t>
            </a:r>
            <a:r>
              <a:rPr dirty="0" spc="-20"/>
              <a:t> </a:t>
            </a:r>
            <a:r>
              <a:rPr dirty="0"/>
              <a:t>broad</a:t>
            </a:r>
            <a:r>
              <a:rPr dirty="0" spc="-25"/>
              <a:t> </a:t>
            </a:r>
            <a:r>
              <a:rPr dirty="0"/>
              <a:t>customer</a:t>
            </a:r>
            <a:r>
              <a:rPr dirty="0" spc="-20"/>
              <a:t> </a:t>
            </a:r>
            <a:r>
              <a:rPr dirty="0" spc="-10"/>
              <a:t>base.</a:t>
            </a:r>
          </a:p>
          <a:p>
            <a:pPr marL="12700" marR="1094740">
              <a:lnSpc>
                <a:spcPct val="136400"/>
              </a:lnSpc>
              <a:spcBef>
                <a:spcPts val="1035"/>
              </a:spcBef>
            </a:pPr>
            <a:r>
              <a:rPr dirty="0" b="1">
                <a:latin typeface="Arial"/>
                <a:cs typeface="Arial"/>
              </a:rPr>
              <a:t>Why</a:t>
            </a:r>
            <a:r>
              <a:rPr dirty="0" spc="-2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This</a:t>
            </a:r>
            <a:r>
              <a:rPr dirty="0" spc="-2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Matters:</a:t>
            </a:r>
            <a:r>
              <a:rPr dirty="0" spc="-20" b="1">
                <a:latin typeface="Arial"/>
                <a:cs typeface="Arial"/>
              </a:rPr>
              <a:t> </a:t>
            </a:r>
            <a:r>
              <a:rPr dirty="0"/>
              <a:t>These</a:t>
            </a:r>
            <a:r>
              <a:rPr dirty="0" spc="-20"/>
              <a:t> </a:t>
            </a:r>
            <a:r>
              <a:rPr dirty="0"/>
              <a:t>"Hero</a:t>
            </a:r>
            <a:r>
              <a:rPr dirty="0" spc="-20"/>
              <a:t> </a:t>
            </a:r>
            <a:r>
              <a:rPr dirty="0"/>
              <a:t>Products"</a:t>
            </a:r>
            <a:r>
              <a:rPr dirty="0" spc="-20"/>
              <a:t> </a:t>
            </a:r>
            <a:r>
              <a:rPr dirty="0"/>
              <a:t>are</a:t>
            </a:r>
            <a:r>
              <a:rPr dirty="0" spc="-20"/>
              <a:t> </a:t>
            </a:r>
            <a:r>
              <a:rPr dirty="0" spc="-10"/>
              <a:t>powerful</a:t>
            </a:r>
            <a:r>
              <a:rPr dirty="0" spc="-15"/>
              <a:t> </a:t>
            </a:r>
            <a:r>
              <a:rPr dirty="0"/>
              <a:t>assets</a:t>
            </a:r>
            <a:r>
              <a:rPr dirty="0" spc="-20"/>
              <a:t> </a:t>
            </a:r>
            <a:r>
              <a:rPr dirty="0"/>
              <a:t>for</a:t>
            </a:r>
            <a:r>
              <a:rPr dirty="0" spc="-20"/>
              <a:t> </a:t>
            </a:r>
            <a:r>
              <a:rPr dirty="0"/>
              <a:t>marketing.</a:t>
            </a:r>
            <a:r>
              <a:rPr dirty="0" spc="-20"/>
              <a:t> </a:t>
            </a:r>
            <a:r>
              <a:rPr dirty="0" spc="-10"/>
              <a:t>Featuring</a:t>
            </a:r>
            <a:r>
              <a:rPr dirty="0" spc="-20"/>
              <a:t> </a:t>
            </a:r>
            <a:r>
              <a:rPr dirty="0"/>
              <a:t>them</a:t>
            </a:r>
            <a:r>
              <a:rPr dirty="0" spc="-20"/>
              <a:t> </a:t>
            </a:r>
            <a:r>
              <a:rPr dirty="0" spc="-10"/>
              <a:t>prominently </a:t>
            </a:r>
            <a:r>
              <a:rPr dirty="0"/>
              <a:t>in</a:t>
            </a:r>
            <a:r>
              <a:rPr dirty="0" spc="-35"/>
              <a:t> </a:t>
            </a:r>
            <a:r>
              <a:rPr dirty="0"/>
              <a:t>campaigns,</a:t>
            </a:r>
            <a:r>
              <a:rPr dirty="0" spc="-30"/>
              <a:t> </a:t>
            </a:r>
            <a:r>
              <a:rPr dirty="0"/>
              <a:t>especially</a:t>
            </a:r>
            <a:r>
              <a:rPr dirty="0" spc="-35"/>
              <a:t> </a:t>
            </a:r>
            <a:r>
              <a:rPr dirty="0"/>
              <a:t>through</a:t>
            </a:r>
            <a:r>
              <a:rPr dirty="0" spc="-30"/>
              <a:t> </a:t>
            </a:r>
            <a:r>
              <a:rPr dirty="0"/>
              <a:t>customer</a:t>
            </a:r>
            <a:r>
              <a:rPr dirty="0" spc="-35"/>
              <a:t> </a:t>
            </a:r>
            <a:r>
              <a:rPr dirty="0"/>
              <a:t>testimonials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visuals,</a:t>
            </a:r>
            <a:r>
              <a:rPr dirty="0" spc="-30"/>
              <a:t> </a:t>
            </a:r>
            <a:r>
              <a:rPr dirty="0"/>
              <a:t>can</a:t>
            </a:r>
            <a:r>
              <a:rPr dirty="0" spc="-35"/>
              <a:t> </a:t>
            </a:r>
            <a:r>
              <a:rPr dirty="0"/>
              <a:t>build</a:t>
            </a:r>
            <a:r>
              <a:rPr dirty="0" spc="-30"/>
              <a:t> </a:t>
            </a:r>
            <a:r>
              <a:rPr dirty="0"/>
              <a:t>trust</a:t>
            </a:r>
            <a:r>
              <a:rPr dirty="0" spc="-30"/>
              <a:t> </a:t>
            </a:r>
            <a:r>
              <a:rPr dirty="0"/>
              <a:t>with</a:t>
            </a:r>
            <a:r>
              <a:rPr dirty="0" spc="-35"/>
              <a:t> </a:t>
            </a:r>
            <a:r>
              <a:rPr dirty="0"/>
              <a:t>new</a:t>
            </a:r>
            <a:r>
              <a:rPr dirty="0" spc="-30"/>
              <a:t> </a:t>
            </a:r>
            <a:r>
              <a:rPr dirty="0"/>
              <a:t>buyers</a:t>
            </a:r>
            <a:r>
              <a:rPr dirty="0" spc="-35"/>
              <a:t> </a:t>
            </a:r>
            <a:r>
              <a:rPr dirty="0" spc="-25"/>
              <a:t>and </a:t>
            </a:r>
            <a:r>
              <a:rPr dirty="0"/>
              <a:t>reinforce</a:t>
            </a:r>
            <a:r>
              <a:rPr dirty="0" spc="-30"/>
              <a:t> </a:t>
            </a:r>
            <a:r>
              <a:rPr dirty="0"/>
              <a:t>our</a:t>
            </a:r>
            <a:r>
              <a:rPr dirty="0" spc="-30"/>
              <a:t> </a:t>
            </a:r>
            <a:r>
              <a:rPr dirty="0"/>
              <a:t>brand's</a:t>
            </a:r>
            <a:r>
              <a:rPr dirty="0" spc="-25"/>
              <a:t> </a:t>
            </a:r>
            <a:r>
              <a:rPr dirty="0"/>
              <a:t>reputation</a:t>
            </a:r>
            <a:r>
              <a:rPr dirty="0" spc="-30"/>
              <a:t> </a:t>
            </a:r>
            <a:r>
              <a:rPr dirty="0"/>
              <a:t>for</a:t>
            </a:r>
            <a:r>
              <a:rPr dirty="0" spc="-30"/>
              <a:t> </a:t>
            </a:r>
            <a:r>
              <a:rPr dirty="0" spc="-10"/>
              <a:t>quality.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73087" y="459813"/>
            <a:ext cx="335407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373A47"/>
                </a:solidFill>
                <a:latin typeface="Arial"/>
                <a:cs typeface="Arial"/>
              </a:rPr>
              <a:t>STRATEGIC</a:t>
            </a:r>
            <a:r>
              <a:rPr dirty="0" sz="1600" spc="-30">
                <a:solidFill>
                  <a:srgbClr val="373A47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373A47"/>
                </a:solidFill>
                <a:latin typeface="Arial"/>
                <a:cs typeface="Arial"/>
              </a:rPr>
              <a:t>RECOMMENDATIONS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Actionable</a:t>
            </a:r>
            <a:r>
              <a:rPr dirty="0" spc="-80"/>
              <a:t> </a:t>
            </a:r>
            <a:r>
              <a:rPr dirty="0"/>
              <a:t>Insights</a:t>
            </a:r>
            <a:r>
              <a:rPr dirty="0" spc="-75"/>
              <a:t> </a:t>
            </a:r>
            <a:r>
              <a:rPr dirty="0"/>
              <a:t>for</a:t>
            </a:r>
            <a:r>
              <a:rPr dirty="0" spc="-75"/>
              <a:t> </a:t>
            </a:r>
            <a:r>
              <a:rPr dirty="0"/>
              <a:t>Growth</a:t>
            </a:r>
            <a:r>
              <a:rPr dirty="0" spc="-75"/>
              <a:t> </a:t>
            </a:r>
            <a:r>
              <a:rPr dirty="0"/>
              <a:t>&amp;</a:t>
            </a:r>
            <a:r>
              <a:rPr dirty="0" spc="-75"/>
              <a:t> </a:t>
            </a:r>
            <a:r>
              <a:rPr dirty="0" spc="-10"/>
              <a:t>Optimization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581977" y="2014893"/>
            <a:ext cx="677545" cy="1024255"/>
            <a:chOff x="581977" y="2014893"/>
            <a:chExt cx="677545" cy="1024255"/>
          </a:xfrm>
        </p:grpSpPr>
        <p:sp>
          <p:nvSpPr>
            <p:cNvPr id="5" name="object 5" descr=""/>
            <p:cNvSpPr/>
            <p:nvPr/>
          </p:nvSpPr>
          <p:spPr>
            <a:xfrm>
              <a:off x="585787" y="2018703"/>
              <a:ext cx="669925" cy="1016635"/>
            </a:xfrm>
            <a:custGeom>
              <a:avLst/>
              <a:gdLst/>
              <a:ahLst/>
              <a:cxnLst/>
              <a:rect l="l" t="t" r="r" b="b"/>
              <a:pathLst>
                <a:path w="669925" h="1016635">
                  <a:moveTo>
                    <a:pt x="334744" y="0"/>
                  </a:moveTo>
                  <a:lnTo>
                    <a:pt x="285557" y="3657"/>
                  </a:lnTo>
                  <a:lnTo>
                    <a:pt x="238517" y="14272"/>
                  </a:lnTo>
                  <a:lnTo>
                    <a:pt x="194160" y="31312"/>
                  </a:lnTo>
                  <a:lnTo>
                    <a:pt x="153019" y="54241"/>
                  </a:lnTo>
                  <a:lnTo>
                    <a:pt x="115629" y="82524"/>
                  </a:lnTo>
                  <a:lnTo>
                    <a:pt x="82525" y="115628"/>
                  </a:lnTo>
                  <a:lnTo>
                    <a:pt x="54241" y="153018"/>
                  </a:lnTo>
                  <a:lnTo>
                    <a:pt x="31312" y="194159"/>
                  </a:lnTo>
                  <a:lnTo>
                    <a:pt x="14273" y="238517"/>
                  </a:lnTo>
                  <a:lnTo>
                    <a:pt x="3657" y="285558"/>
                  </a:lnTo>
                  <a:lnTo>
                    <a:pt x="0" y="334746"/>
                  </a:lnTo>
                  <a:lnTo>
                    <a:pt x="0" y="681812"/>
                  </a:lnTo>
                  <a:lnTo>
                    <a:pt x="3657" y="730997"/>
                  </a:lnTo>
                  <a:lnTo>
                    <a:pt x="14273" y="778036"/>
                  </a:lnTo>
                  <a:lnTo>
                    <a:pt x="31312" y="822393"/>
                  </a:lnTo>
                  <a:lnTo>
                    <a:pt x="54241" y="863534"/>
                  </a:lnTo>
                  <a:lnTo>
                    <a:pt x="82525" y="900924"/>
                  </a:lnTo>
                  <a:lnTo>
                    <a:pt x="115629" y="934029"/>
                  </a:lnTo>
                  <a:lnTo>
                    <a:pt x="153019" y="962314"/>
                  </a:lnTo>
                  <a:lnTo>
                    <a:pt x="194160" y="985244"/>
                  </a:lnTo>
                  <a:lnTo>
                    <a:pt x="238517" y="1002284"/>
                  </a:lnTo>
                  <a:lnTo>
                    <a:pt x="285557" y="1012901"/>
                  </a:lnTo>
                  <a:lnTo>
                    <a:pt x="334744" y="1016558"/>
                  </a:lnTo>
                  <a:lnTo>
                    <a:pt x="383930" y="1012901"/>
                  </a:lnTo>
                  <a:lnTo>
                    <a:pt x="430970" y="1002284"/>
                  </a:lnTo>
                  <a:lnTo>
                    <a:pt x="475327" y="985244"/>
                  </a:lnTo>
                  <a:lnTo>
                    <a:pt x="516468" y="962314"/>
                  </a:lnTo>
                  <a:lnTo>
                    <a:pt x="553858" y="934029"/>
                  </a:lnTo>
                  <a:lnTo>
                    <a:pt x="586962" y="900924"/>
                  </a:lnTo>
                  <a:lnTo>
                    <a:pt x="615246" y="863534"/>
                  </a:lnTo>
                  <a:lnTo>
                    <a:pt x="638175" y="822393"/>
                  </a:lnTo>
                  <a:lnTo>
                    <a:pt x="655214" y="778036"/>
                  </a:lnTo>
                  <a:lnTo>
                    <a:pt x="665830" y="730997"/>
                  </a:lnTo>
                  <a:lnTo>
                    <a:pt x="669488" y="681812"/>
                  </a:lnTo>
                  <a:lnTo>
                    <a:pt x="669488" y="334746"/>
                  </a:lnTo>
                  <a:lnTo>
                    <a:pt x="665830" y="285558"/>
                  </a:lnTo>
                  <a:lnTo>
                    <a:pt x="655214" y="238517"/>
                  </a:lnTo>
                  <a:lnTo>
                    <a:pt x="638175" y="194159"/>
                  </a:lnTo>
                  <a:lnTo>
                    <a:pt x="615246" y="153018"/>
                  </a:lnTo>
                  <a:lnTo>
                    <a:pt x="586962" y="115628"/>
                  </a:lnTo>
                  <a:lnTo>
                    <a:pt x="553858" y="82524"/>
                  </a:lnTo>
                  <a:lnTo>
                    <a:pt x="516468" y="54241"/>
                  </a:lnTo>
                  <a:lnTo>
                    <a:pt x="475327" y="31312"/>
                  </a:lnTo>
                  <a:lnTo>
                    <a:pt x="430970" y="14272"/>
                  </a:lnTo>
                  <a:lnTo>
                    <a:pt x="383930" y="3657"/>
                  </a:lnTo>
                  <a:lnTo>
                    <a:pt x="334744" y="0"/>
                  </a:lnTo>
                  <a:close/>
                </a:path>
              </a:pathLst>
            </a:custGeom>
            <a:solidFill>
              <a:srgbClr val="E1E3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787" y="2018703"/>
              <a:ext cx="669925" cy="1016635"/>
            </a:xfrm>
            <a:custGeom>
              <a:avLst/>
              <a:gdLst/>
              <a:ahLst/>
              <a:cxnLst/>
              <a:rect l="l" t="t" r="r" b="b"/>
              <a:pathLst>
                <a:path w="669925" h="1016635">
                  <a:moveTo>
                    <a:pt x="0" y="334746"/>
                  </a:moveTo>
                  <a:lnTo>
                    <a:pt x="3657" y="285558"/>
                  </a:lnTo>
                  <a:lnTo>
                    <a:pt x="14273" y="238517"/>
                  </a:lnTo>
                  <a:lnTo>
                    <a:pt x="31312" y="194159"/>
                  </a:lnTo>
                  <a:lnTo>
                    <a:pt x="54241" y="153018"/>
                  </a:lnTo>
                  <a:lnTo>
                    <a:pt x="82525" y="115628"/>
                  </a:lnTo>
                  <a:lnTo>
                    <a:pt x="115629" y="82524"/>
                  </a:lnTo>
                  <a:lnTo>
                    <a:pt x="153019" y="54241"/>
                  </a:lnTo>
                  <a:lnTo>
                    <a:pt x="194160" y="31312"/>
                  </a:lnTo>
                  <a:lnTo>
                    <a:pt x="238517" y="14272"/>
                  </a:lnTo>
                  <a:lnTo>
                    <a:pt x="285557" y="3657"/>
                  </a:lnTo>
                  <a:lnTo>
                    <a:pt x="334744" y="0"/>
                  </a:lnTo>
                  <a:lnTo>
                    <a:pt x="383930" y="3657"/>
                  </a:lnTo>
                  <a:lnTo>
                    <a:pt x="430970" y="14272"/>
                  </a:lnTo>
                  <a:lnTo>
                    <a:pt x="475327" y="31312"/>
                  </a:lnTo>
                  <a:lnTo>
                    <a:pt x="516468" y="54241"/>
                  </a:lnTo>
                  <a:lnTo>
                    <a:pt x="553858" y="82524"/>
                  </a:lnTo>
                  <a:lnTo>
                    <a:pt x="586962" y="115628"/>
                  </a:lnTo>
                  <a:lnTo>
                    <a:pt x="615246" y="153018"/>
                  </a:lnTo>
                  <a:lnTo>
                    <a:pt x="638175" y="194159"/>
                  </a:lnTo>
                  <a:lnTo>
                    <a:pt x="655214" y="238517"/>
                  </a:lnTo>
                  <a:lnTo>
                    <a:pt x="665830" y="285558"/>
                  </a:lnTo>
                  <a:lnTo>
                    <a:pt x="669488" y="334746"/>
                  </a:lnTo>
                  <a:lnTo>
                    <a:pt x="669488" y="681812"/>
                  </a:lnTo>
                  <a:lnTo>
                    <a:pt x="665830" y="730997"/>
                  </a:lnTo>
                  <a:lnTo>
                    <a:pt x="655214" y="778036"/>
                  </a:lnTo>
                  <a:lnTo>
                    <a:pt x="638175" y="822393"/>
                  </a:lnTo>
                  <a:lnTo>
                    <a:pt x="615246" y="863534"/>
                  </a:lnTo>
                  <a:lnTo>
                    <a:pt x="586962" y="900924"/>
                  </a:lnTo>
                  <a:lnTo>
                    <a:pt x="553858" y="934029"/>
                  </a:lnTo>
                  <a:lnTo>
                    <a:pt x="516468" y="962314"/>
                  </a:lnTo>
                  <a:lnTo>
                    <a:pt x="475327" y="985244"/>
                  </a:lnTo>
                  <a:lnTo>
                    <a:pt x="430970" y="1002284"/>
                  </a:lnTo>
                  <a:lnTo>
                    <a:pt x="383930" y="1012901"/>
                  </a:lnTo>
                  <a:lnTo>
                    <a:pt x="334744" y="1016558"/>
                  </a:lnTo>
                  <a:lnTo>
                    <a:pt x="285557" y="1012901"/>
                  </a:lnTo>
                  <a:lnTo>
                    <a:pt x="238517" y="1002284"/>
                  </a:lnTo>
                  <a:lnTo>
                    <a:pt x="194160" y="985244"/>
                  </a:lnTo>
                  <a:lnTo>
                    <a:pt x="153019" y="962314"/>
                  </a:lnTo>
                  <a:lnTo>
                    <a:pt x="115629" y="934029"/>
                  </a:lnTo>
                  <a:lnTo>
                    <a:pt x="82525" y="900924"/>
                  </a:lnTo>
                  <a:lnTo>
                    <a:pt x="54241" y="863534"/>
                  </a:lnTo>
                  <a:lnTo>
                    <a:pt x="31312" y="822393"/>
                  </a:lnTo>
                  <a:lnTo>
                    <a:pt x="14273" y="778036"/>
                  </a:lnTo>
                  <a:lnTo>
                    <a:pt x="3657" y="730997"/>
                  </a:lnTo>
                  <a:lnTo>
                    <a:pt x="0" y="681812"/>
                  </a:lnTo>
                  <a:lnTo>
                    <a:pt x="0" y="334746"/>
                  </a:lnTo>
                  <a:close/>
                </a:path>
              </a:pathLst>
            </a:custGeom>
            <a:ln w="7619">
              <a:solidFill>
                <a:srgbClr val="C7C9C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4979" y="2401366"/>
              <a:ext cx="250983" cy="250977"/>
            </a:xfrm>
            <a:prstGeom prst="rect">
              <a:avLst/>
            </a:prstGeom>
          </p:spPr>
        </p:pic>
      </p:grpSp>
      <p:grpSp>
        <p:nvGrpSpPr>
          <p:cNvPr id="8" name="object 8" descr=""/>
          <p:cNvGrpSpPr/>
          <p:nvPr/>
        </p:nvGrpSpPr>
        <p:grpSpPr>
          <a:xfrm>
            <a:off x="581977" y="3198736"/>
            <a:ext cx="677545" cy="1024255"/>
            <a:chOff x="581977" y="3198736"/>
            <a:chExt cx="677545" cy="1024255"/>
          </a:xfrm>
        </p:grpSpPr>
        <p:sp>
          <p:nvSpPr>
            <p:cNvPr id="9" name="object 9" descr=""/>
            <p:cNvSpPr/>
            <p:nvPr/>
          </p:nvSpPr>
          <p:spPr>
            <a:xfrm>
              <a:off x="585787" y="3202546"/>
              <a:ext cx="669925" cy="1016635"/>
            </a:xfrm>
            <a:custGeom>
              <a:avLst/>
              <a:gdLst/>
              <a:ahLst/>
              <a:cxnLst/>
              <a:rect l="l" t="t" r="r" b="b"/>
              <a:pathLst>
                <a:path w="669925" h="1016635">
                  <a:moveTo>
                    <a:pt x="334744" y="0"/>
                  </a:moveTo>
                  <a:lnTo>
                    <a:pt x="285557" y="3657"/>
                  </a:lnTo>
                  <a:lnTo>
                    <a:pt x="238517" y="14272"/>
                  </a:lnTo>
                  <a:lnTo>
                    <a:pt x="194160" y="31312"/>
                  </a:lnTo>
                  <a:lnTo>
                    <a:pt x="153019" y="54241"/>
                  </a:lnTo>
                  <a:lnTo>
                    <a:pt x="115629" y="82524"/>
                  </a:lnTo>
                  <a:lnTo>
                    <a:pt x="82525" y="115628"/>
                  </a:lnTo>
                  <a:lnTo>
                    <a:pt x="54241" y="153018"/>
                  </a:lnTo>
                  <a:lnTo>
                    <a:pt x="31312" y="194159"/>
                  </a:lnTo>
                  <a:lnTo>
                    <a:pt x="14273" y="238517"/>
                  </a:lnTo>
                  <a:lnTo>
                    <a:pt x="3657" y="285558"/>
                  </a:lnTo>
                  <a:lnTo>
                    <a:pt x="0" y="334746"/>
                  </a:lnTo>
                  <a:lnTo>
                    <a:pt x="0" y="681812"/>
                  </a:lnTo>
                  <a:lnTo>
                    <a:pt x="3657" y="730997"/>
                  </a:lnTo>
                  <a:lnTo>
                    <a:pt x="14273" y="778036"/>
                  </a:lnTo>
                  <a:lnTo>
                    <a:pt x="31312" y="822393"/>
                  </a:lnTo>
                  <a:lnTo>
                    <a:pt x="54241" y="863534"/>
                  </a:lnTo>
                  <a:lnTo>
                    <a:pt x="82525" y="900924"/>
                  </a:lnTo>
                  <a:lnTo>
                    <a:pt x="115629" y="934029"/>
                  </a:lnTo>
                  <a:lnTo>
                    <a:pt x="153019" y="962314"/>
                  </a:lnTo>
                  <a:lnTo>
                    <a:pt x="194160" y="985244"/>
                  </a:lnTo>
                  <a:lnTo>
                    <a:pt x="238517" y="1002284"/>
                  </a:lnTo>
                  <a:lnTo>
                    <a:pt x="285557" y="1012901"/>
                  </a:lnTo>
                  <a:lnTo>
                    <a:pt x="334744" y="1016558"/>
                  </a:lnTo>
                  <a:lnTo>
                    <a:pt x="383930" y="1012901"/>
                  </a:lnTo>
                  <a:lnTo>
                    <a:pt x="430970" y="1002284"/>
                  </a:lnTo>
                  <a:lnTo>
                    <a:pt x="475327" y="985244"/>
                  </a:lnTo>
                  <a:lnTo>
                    <a:pt x="516468" y="962314"/>
                  </a:lnTo>
                  <a:lnTo>
                    <a:pt x="553858" y="934029"/>
                  </a:lnTo>
                  <a:lnTo>
                    <a:pt x="586962" y="900924"/>
                  </a:lnTo>
                  <a:lnTo>
                    <a:pt x="615246" y="863534"/>
                  </a:lnTo>
                  <a:lnTo>
                    <a:pt x="638175" y="822393"/>
                  </a:lnTo>
                  <a:lnTo>
                    <a:pt x="655214" y="778036"/>
                  </a:lnTo>
                  <a:lnTo>
                    <a:pt x="665830" y="730997"/>
                  </a:lnTo>
                  <a:lnTo>
                    <a:pt x="669488" y="681812"/>
                  </a:lnTo>
                  <a:lnTo>
                    <a:pt x="669488" y="334746"/>
                  </a:lnTo>
                  <a:lnTo>
                    <a:pt x="665830" y="285558"/>
                  </a:lnTo>
                  <a:lnTo>
                    <a:pt x="655214" y="238517"/>
                  </a:lnTo>
                  <a:lnTo>
                    <a:pt x="638175" y="194159"/>
                  </a:lnTo>
                  <a:lnTo>
                    <a:pt x="615246" y="153018"/>
                  </a:lnTo>
                  <a:lnTo>
                    <a:pt x="586962" y="115628"/>
                  </a:lnTo>
                  <a:lnTo>
                    <a:pt x="553858" y="82524"/>
                  </a:lnTo>
                  <a:lnTo>
                    <a:pt x="516468" y="54241"/>
                  </a:lnTo>
                  <a:lnTo>
                    <a:pt x="475327" y="31312"/>
                  </a:lnTo>
                  <a:lnTo>
                    <a:pt x="430970" y="14272"/>
                  </a:lnTo>
                  <a:lnTo>
                    <a:pt x="383930" y="3657"/>
                  </a:lnTo>
                  <a:lnTo>
                    <a:pt x="334744" y="0"/>
                  </a:lnTo>
                  <a:close/>
                </a:path>
              </a:pathLst>
            </a:custGeom>
            <a:solidFill>
              <a:srgbClr val="E1E3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85787" y="3202546"/>
              <a:ext cx="669925" cy="1016635"/>
            </a:xfrm>
            <a:custGeom>
              <a:avLst/>
              <a:gdLst/>
              <a:ahLst/>
              <a:cxnLst/>
              <a:rect l="l" t="t" r="r" b="b"/>
              <a:pathLst>
                <a:path w="669925" h="1016635">
                  <a:moveTo>
                    <a:pt x="0" y="334746"/>
                  </a:moveTo>
                  <a:lnTo>
                    <a:pt x="3657" y="285558"/>
                  </a:lnTo>
                  <a:lnTo>
                    <a:pt x="14273" y="238517"/>
                  </a:lnTo>
                  <a:lnTo>
                    <a:pt x="31312" y="194159"/>
                  </a:lnTo>
                  <a:lnTo>
                    <a:pt x="54241" y="153018"/>
                  </a:lnTo>
                  <a:lnTo>
                    <a:pt x="82525" y="115628"/>
                  </a:lnTo>
                  <a:lnTo>
                    <a:pt x="115629" y="82524"/>
                  </a:lnTo>
                  <a:lnTo>
                    <a:pt x="153019" y="54241"/>
                  </a:lnTo>
                  <a:lnTo>
                    <a:pt x="194160" y="31312"/>
                  </a:lnTo>
                  <a:lnTo>
                    <a:pt x="238517" y="14272"/>
                  </a:lnTo>
                  <a:lnTo>
                    <a:pt x="285557" y="3657"/>
                  </a:lnTo>
                  <a:lnTo>
                    <a:pt x="334744" y="0"/>
                  </a:lnTo>
                  <a:lnTo>
                    <a:pt x="383930" y="3657"/>
                  </a:lnTo>
                  <a:lnTo>
                    <a:pt x="430970" y="14272"/>
                  </a:lnTo>
                  <a:lnTo>
                    <a:pt x="475327" y="31312"/>
                  </a:lnTo>
                  <a:lnTo>
                    <a:pt x="516468" y="54241"/>
                  </a:lnTo>
                  <a:lnTo>
                    <a:pt x="553858" y="82524"/>
                  </a:lnTo>
                  <a:lnTo>
                    <a:pt x="586962" y="115628"/>
                  </a:lnTo>
                  <a:lnTo>
                    <a:pt x="615246" y="153018"/>
                  </a:lnTo>
                  <a:lnTo>
                    <a:pt x="638175" y="194159"/>
                  </a:lnTo>
                  <a:lnTo>
                    <a:pt x="655214" y="238517"/>
                  </a:lnTo>
                  <a:lnTo>
                    <a:pt x="665830" y="285558"/>
                  </a:lnTo>
                  <a:lnTo>
                    <a:pt x="669488" y="334746"/>
                  </a:lnTo>
                  <a:lnTo>
                    <a:pt x="669488" y="681812"/>
                  </a:lnTo>
                  <a:lnTo>
                    <a:pt x="665830" y="730997"/>
                  </a:lnTo>
                  <a:lnTo>
                    <a:pt x="655214" y="778036"/>
                  </a:lnTo>
                  <a:lnTo>
                    <a:pt x="638175" y="822393"/>
                  </a:lnTo>
                  <a:lnTo>
                    <a:pt x="615246" y="863534"/>
                  </a:lnTo>
                  <a:lnTo>
                    <a:pt x="586962" y="900924"/>
                  </a:lnTo>
                  <a:lnTo>
                    <a:pt x="553858" y="934029"/>
                  </a:lnTo>
                  <a:lnTo>
                    <a:pt x="516468" y="962314"/>
                  </a:lnTo>
                  <a:lnTo>
                    <a:pt x="475327" y="985244"/>
                  </a:lnTo>
                  <a:lnTo>
                    <a:pt x="430970" y="1002284"/>
                  </a:lnTo>
                  <a:lnTo>
                    <a:pt x="383930" y="1012901"/>
                  </a:lnTo>
                  <a:lnTo>
                    <a:pt x="334744" y="1016558"/>
                  </a:lnTo>
                  <a:lnTo>
                    <a:pt x="285557" y="1012901"/>
                  </a:lnTo>
                  <a:lnTo>
                    <a:pt x="238517" y="1002284"/>
                  </a:lnTo>
                  <a:lnTo>
                    <a:pt x="194160" y="985244"/>
                  </a:lnTo>
                  <a:lnTo>
                    <a:pt x="153019" y="962314"/>
                  </a:lnTo>
                  <a:lnTo>
                    <a:pt x="115629" y="934029"/>
                  </a:lnTo>
                  <a:lnTo>
                    <a:pt x="82525" y="900924"/>
                  </a:lnTo>
                  <a:lnTo>
                    <a:pt x="54241" y="863534"/>
                  </a:lnTo>
                  <a:lnTo>
                    <a:pt x="31312" y="822393"/>
                  </a:lnTo>
                  <a:lnTo>
                    <a:pt x="14273" y="778036"/>
                  </a:lnTo>
                  <a:lnTo>
                    <a:pt x="3657" y="730997"/>
                  </a:lnTo>
                  <a:lnTo>
                    <a:pt x="0" y="681812"/>
                  </a:lnTo>
                  <a:lnTo>
                    <a:pt x="0" y="334746"/>
                  </a:lnTo>
                  <a:close/>
                </a:path>
              </a:pathLst>
            </a:custGeom>
            <a:ln w="7619">
              <a:solidFill>
                <a:srgbClr val="C7C9C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4979" y="3585209"/>
              <a:ext cx="250983" cy="250977"/>
            </a:xfrm>
            <a:prstGeom prst="rect">
              <a:avLst/>
            </a:prstGeom>
          </p:spPr>
        </p:pic>
      </p:grpSp>
      <p:grpSp>
        <p:nvGrpSpPr>
          <p:cNvPr id="12" name="object 12" descr=""/>
          <p:cNvGrpSpPr/>
          <p:nvPr/>
        </p:nvGrpSpPr>
        <p:grpSpPr>
          <a:xfrm>
            <a:off x="581977" y="4382566"/>
            <a:ext cx="677545" cy="1024255"/>
            <a:chOff x="581977" y="4382566"/>
            <a:chExt cx="677545" cy="1024255"/>
          </a:xfrm>
        </p:grpSpPr>
        <p:sp>
          <p:nvSpPr>
            <p:cNvPr id="13" name="object 13" descr=""/>
            <p:cNvSpPr/>
            <p:nvPr/>
          </p:nvSpPr>
          <p:spPr>
            <a:xfrm>
              <a:off x="585787" y="4386376"/>
              <a:ext cx="669925" cy="1016635"/>
            </a:xfrm>
            <a:custGeom>
              <a:avLst/>
              <a:gdLst/>
              <a:ahLst/>
              <a:cxnLst/>
              <a:rect l="l" t="t" r="r" b="b"/>
              <a:pathLst>
                <a:path w="669925" h="1016635">
                  <a:moveTo>
                    <a:pt x="334744" y="0"/>
                  </a:moveTo>
                  <a:lnTo>
                    <a:pt x="285557" y="3657"/>
                  </a:lnTo>
                  <a:lnTo>
                    <a:pt x="238517" y="14272"/>
                  </a:lnTo>
                  <a:lnTo>
                    <a:pt x="194160" y="31312"/>
                  </a:lnTo>
                  <a:lnTo>
                    <a:pt x="153019" y="54241"/>
                  </a:lnTo>
                  <a:lnTo>
                    <a:pt x="115629" y="82524"/>
                  </a:lnTo>
                  <a:lnTo>
                    <a:pt x="82525" y="115628"/>
                  </a:lnTo>
                  <a:lnTo>
                    <a:pt x="54241" y="153018"/>
                  </a:lnTo>
                  <a:lnTo>
                    <a:pt x="31312" y="194159"/>
                  </a:lnTo>
                  <a:lnTo>
                    <a:pt x="14273" y="238517"/>
                  </a:lnTo>
                  <a:lnTo>
                    <a:pt x="3657" y="285558"/>
                  </a:lnTo>
                  <a:lnTo>
                    <a:pt x="0" y="334746"/>
                  </a:lnTo>
                  <a:lnTo>
                    <a:pt x="0" y="681812"/>
                  </a:lnTo>
                  <a:lnTo>
                    <a:pt x="3657" y="730997"/>
                  </a:lnTo>
                  <a:lnTo>
                    <a:pt x="14273" y="778036"/>
                  </a:lnTo>
                  <a:lnTo>
                    <a:pt x="31312" y="822393"/>
                  </a:lnTo>
                  <a:lnTo>
                    <a:pt x="54241" y="863534"/>
                  </a:lnTo>
                  <a:lnTo>
                    <a:pt x="82525" y="900924"/>
                  </a:lnTo>
                  <a:lnTo>
                    <a:pt x="115629" y="934029"/>
                  </a:lnTo>
                  <a:lnTo>
                    <a:pt x="153019" y="962314"/>
                  </a:lnTo>
                  <a:lnTo>
                    <a:pt x="194160" y="985244"/>
                  </a:lnTo>
                  <a:lnTo>
                    <a:pt x="238517" y="1002284"/>
                  </a:lnTo>
                  <a:lnTo>
                    <a:pt x="285557" y="1012901"/>
                  </a:lnTo>
                  <a:lnTo>
                    <a:pt x="334744" y="1016558"/>
                  </a:lnTo>
                  <a:lnTo>
                    <a:pt x="383930" y="1012901"/>
                  </a:lnTo>
                  <a:lnTo>
                    <a:pt x="430970" y="1002284"/>
                  </a:lnTo>
                  <a:lnTo>
                    <a:pt x="475327" y="985244"/>
                  </a:lnTo>
                  <a:lnTo>
                    <a:pt x="516468" y="962314"/>
                  </a:lnTo>
                  <a:lnTo>
                    <a:pt x="553858" y="934029"/>
                  </a:lnTo>
                  <a:lnTo>
                    <a:pt x="586962" y="900924"/>
                  </a:lnTo>
                  <a:lnTo>
                    <a:pt x="615246" y="863534"/>
                  </a:lnTo>
                  <a:lnTo>
                    <a:pt x="638175" y="822393"/>
                  </a:lnTo>
                  <a:lnTo>
                    <a:pt x="655214" y="778036"/>
                  </a:lnTo>
                  <a:lnTo>
                    <a:pt x="665830" y="730997"/>
                  </a:lnTo>
                  <a:lnTo>
                    <a:pt x="669488" y="681812"/>
                  </a:lnTo>
                  <a:lnTo>
                    <a:pt x="669488" y="334746"/>
                  </a:lnTo>
                  <a:lnTo>
                    <a:pt x="665830" y="285558"/>
                  </a:lnTo>
                  <a:lnTo>
                    <a:pt x="655214" y="238517"/>
                  </a:lnTo>
                  <a:lnTo>
                    <a:pt x="638175" y="194159"/>
                  </a:lnTo>
                  <a:lnTo>
                    <a:pt x="615246" y="153018"/>
                  </a:lnTo>
                  <a:lnTo>
                    <a:pt x="586962" y="115628"/>
                  </a:lnTo>
                  <a:lnTo>
                    <a:pt x="553858" y="82524"/>
                  </a:lnTo>
                  <a:lnTo>
                    <a:pt x="516468" y="54241"/>
                  </a:lnTo>
                  <a:lnTo>
                    <a:pt x="475327" y="31312"/>
                  </a:lnTo>
                  <a:lnTo>
                    <a:pt x="430970" y="14272"/>
                  </a:lnTo>
                  <a:lnTo>
                    <a:pt x="383930" y="3657"/>
                  </a:lnTo>
                  <a:lnTo>
                    <a:pt x="334744" y="0"/>
                  </a:lnTo>
                  <a:close/>
                </a:path>
              </a:pathLst>
            </a:custGeom>
            <a:solidFill>
              <a:srgbClr val="E1E3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85787" y="4386376"/>
              <a:ext cx="669925" cy="1016635"/>
            </a:xfrm>
            <a:custGeom>
              <a:avLst/>
              <a:gdLst/>
              <a:ahLst/>
              <a:cxnLst/>
              <a:rect l="l" t="t" r="r" b="b"/>
              <a:pathLst>
                <a:path w="669925" h="1016635">
                  <a:moveTo>
                    <a:pt x="0" y="334746"/>
                  </a:moveTo>
                  <a:lnTo>
                    <a:pt x="3657" y="285558"/>
                  </a:lnTo>
                  <a:lnTo>
                    <a:pt x="14273" y="238517"/>
                  </a:lnTo>
                  <a:lnTo>
                    <a:pt x="31312" y="194159"/>
                  </a:lnTo>
                  <a:lnTo>
                    <a:pt x="54241" y="153018"/>
                  </a:lnTo>
                  <a:lnTo>
                    <a:pt x="82525" y="115628"/>
                  </a:lnTo>
                  <a:lnTo>
                    <a:pt x="115629" y="82524"/>
                  </a:lnTo>
                  <a:lnTo>
                    <a:pt x="153019" y="54241"/>
                  </a:lnTo>
                  <a:lnTo>
                    <a:pt x="194160" y="31312"/>
                  </a:lnTo>
                  <a:lnTo>
                    <a:pt x="238517" y="14272"/>
                  </a:lnTo>
                  <a:lnTo>
                    <a:pt x="285557" y="3657"/>
                  </a:lnTo>
                  <a:lnTo>
                    <a:pt x="334744" y="0"/>
                  </a:lnTo>
                  <a:lnTo>
                    <a:pt x="383930" y="3657"/>
                  </a:lnTo>
                  <a:lnTo>
                    <a:pt x="430970" y="14272"/>
                  </a:lnTo>
                  <a:lnTo>
                    <a:pt x="475327" y="31312"/>
                  </a:lnTo>
                  <a:lnTo>
                    <a:pt x="516468" y="54241"/>
                  </a:lnTo>
                  <a:lnTo>
                    <a:pt x="553858" y="82524"/>
                  </a:lnTo>
                  <a:lnTo>
                    <a:pt x="586962" y="115628"/>
                  </a:lnTo>
                  <a:lnTo>
                    <a:pt x="615246" y="153018"/>
                  </a:lnTo>
                  <a:lnTo>
                    <a:pt x="638175" y="194159"/>
                  </a:lnTo>
                  <a:lnTo>
                    <a:pt x="655214" y="238517"/>
                  </a:lnTo>
                  <a:lnTo>
                    <a:pt x="665830" y="285558"/>
                  </a:lnTo>
                  <a:lnTo>
                    <a:pt x="669488" y="334746"/>
                  </a:lnTo>
                  <a:lnTo>
                    <a:pt x="669488" y="681812"/>
                  </a:lnTo>
                  <a:lnTo>
                    <a:pt x="665830" y="730997"/>
                  </a:lnTo>
                  <a:lnTo>
                    <a:pt x="655214" y="778036"/>
                  </a:lnTo>
                  <a:lnTo>
                    <a:pt x="638175" y="822393"/>
                  </a:lnTo>
                  <a:lnTo>
                    <a:pt x="615246" y="863534"/>
                  </a:lnTo>
                  <a:lnTo>
                    <a:pt x="586962" y="900924"/>
                  </a:lnTo>
                  <a:lnTo>
                    <a:pt x="553858" y="934029"/>
                  </a:lnTo>
                  <a:lnTo>
                    <a:pt x="516468" y="962314"/>
                  </a:lnTo>
                  <a:lnTo>
                    <a:pt x="475327" y="985244"/>
                  </a:lnTo>
                  <a:lnTo>
                    <a:pt x="430970" y="1002284"/>
                  </a:lnTo>
                  <a:lnTo>
                    <a:pt x="383930" y="1012901"/>
                  </a:lnTo>
                  <a:lnTo>
                    <a:pt x="334744" y="1016558"/>
                  </a:lnTo>
                  <a:lnTo>
                    <a:pt x="285557" y="1012901"/>
                  </a:lnTo>
                  <a:lnTo>
                    <a:pt x="238517" y="1002284"/>
                  </a:lnTo>
                  <a:lnTo>
                    <a:pt x="194160" y="985244"/>
                  </a:lnTo>
                  <a:lnTo>
                    <a:pt x="153019" y="962314"/>
                  </a:lnTo>
                  <a:lnTo>
                    <a:pt x="115629" y="934029"/>
                  </a:lnTo>
                  <a:lnTo>
                    <a:pt x="82525" y="900924"/>
                  </a:lnTo>
                  <a:lnTo>
                    <a:pt x="54241" y="863534"/>
                  </a:lnTo>
                  <a:lnTo>
                    <a:pt x="31312" y="822393"/>
                  </a:lnTo>
                  <a:lnTo>
                    <a:pt x="14273" y="778036"/>
                  </a:lnTo>
                  <a:lnTo>
                    <a:pt x="3657" y="730997"/>
                  </a:lnTo>
                  <a:lnTo>
                    <a:pt x="0" y="681812"/>
                  </a:lnTo>
                  <a:lnTo>
                    <a:pt x="0" y="334746"/>
                  </a:lnTo>
                  <a:close/>
                </a:path>
              </a:pathLst>
            </a:custGeom>
            <a:ln w="7619">
              <a:solidFill>
                <a:srgbClr val="C7C9C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4979" y="4769053"/>
              <a:ext cx="250983" cy="250977"/>
            </a:xfrm>
            <a:prstGeom prst="rect">
              <a:avLst/>
            </a:prstGeom>
          </p:spPr>
        </p:pic>
      </p:grpSp>
      <p:grpSp>
        <p:nvGrpSpPr>
          <p:cNvPr id="16" name="object 16" descr=""/>
          <p:cNvGrpSpPr/>
          <p:nvPr/>
        </p:nvGrpSpPr>
        <p:grpSpPr>
          <a:xfrm>
            <a:off x="581977" y="5566410"/>
            <a:ext cx="677545" cy="1024255"/>
            <a:chOff x="581977" y="5566410"/>
            <a:chExt cx="677545" cy="1024255"/>
          </a:xfrm>
        </p:grpSpPr>
        <p:sp>
          <p:nvSpPr>
            <p:cNvPr id="17" name="object 17" descr=""/>
            <p:cNvSpPr/>
            <p:nvPr/>
          </p:nvSpPr>
          <p:spPr>
            <a:xfrm>
              <a:off x="585787" y="5570220"/>
              <a:ext cx="669925" cy="1016635"/>
            </a:xfrm>
            <a:custGeom>
              <a:avLst/>
              <a:gdLst/>
              <a:ahLst/>
              <a:cxnLst/>
              <a:rect l="l" t="t" r="r" b="b"/>
              <a:pathLst>
                <a:path w="669925" h="1016634">
                  <a:moveTo>
                    <a:pt x="334744" y="0"/>
                  </a:moveTo>
                  <a:lnTo>
                    <a:pt x="285557" y="3657"/>
                  </a:lnTo>
                  <a:lnTo>
                    <a:pt x="238517" y="14272"/>
                  </a:lnTo>
                  <a:lnTo>
                    <a:pt x="194160" y="31312"/>
                  </a:lnTo>
                  <a:lnTo>
                    <a:pt x="153019" y="54241"/>
                  </a:lnTo>
                  <a:lnTo>
                    <a:pt x="115629" y="82524"/>
                  </a:lnTo>
                  <a:lnTo>
                    <a:pt x="82525" y="115628"/>
                  </a:lnTo>
                  <a:lnTo>
                    <a:pt x="54241" y="153018"/>
                  </a:lnTo>
                  <a:lnTo>
                    <a:pt x="31312" y="194159"/>
                  </a:lnTo>
                  <a:lnTo>
                    <a:pt x="14273" y="238517"/>
                  </a:lnTo>
                  <a:lnTo>
                    <a:pt x="3657" y="285558"/>
                  </a:lnTo>
                  <a:lnTo>
                    <a:pt x="0" y="334746"/>
                  </a:lnTo>
                  <a:lnTo>
                    <a:pt x="0" y="681812"/>
                  </a:lnTo>
                  <a:lnTo>
                    <a:pt x="3657" y="730997"/>
                  </a:lnTo>
                  <a:lnTo>
                    <a:pt x="14273" y="778036"/>
                  </a:lnTo>
                  <a:lnTo>
                    <a:pt x="31312" y="822393"/>
                  </a:lnTo>
                  <a:lnTo>
                    <a:pt x="54241" y="863534"/>
                  </a:lnTo>
                  <a:lnTo>
                    <a:pt x="82525" y="900924"/>
                  </a:lnTo>
                  <a:lnTo>
                    <a:pt x="115629" y="934029"/>
                  </a:lnTo>
                  <a:lnTo>
                    <a:pt x="153019" y="962314"/>
                  </a:lnTo>
                  <a:lnTo>
                    <a:pt x="194160" y="985244"/>
                  </a:lnTo>
                  <a:lnTo>
                    <a:pt x="238517" y="1002284"/>
                  </a:lnTo>
                  <a:lnTo>
                    <a:pt x="285557" y="1012901"/>
                  </a:lnTo>
                  <a:lnTo>
                    <a:pt x="334744" y="1016558"/>
                  </a:lnTo>
                  <a:lnTo>
                    <a:pt x="383930" y="1012901"/>
                  </a:lnTo>
                  <a:lnTo>
                    <a:pt x="430970" y="1002284"/>
                  </a:lnTo>
                  <a:lnTo>
                    <a:pt x="475327" y="985244"/>
                  </a:lnTo>
                  <a:lnTo>
                    <a:pt x="516468" y="962314"/>
                  </a:lnTo>
                  <a:lnTo>
                    <a:pt x="553858" y="934029"/>
                  </a:lnTo>
                  <a:lnTo>
                    <a:pt x="586962" y="900924"/>
                  </a:lnTo>
                  <a:lnTo>
                    <a:pt x="615246" y="863534"/>
                  </a:lnTo>
                  <a:lnTo>
                    <a:pt x="638175" y="822393"/>
                  </a:lnTo>
                  <a:lnTo>
                    <a:pt x="655214" y="778036"/>
                  </a:lnTo>
                  <a:lnTo>
                    <a:pt x="665830" y="730997"/>
                  </a:lnTo>
                  <a:lnTo>
                    <a:pt x="669488" y="681812"/>
                  </a:lnTo>
                  <a:lnTo>
                    <a:pt x="669488" y="334746"/>
                  </a:lnTo>
                  <a:lnTo>
                    <a:pt x="665830" y="285558"/>
                  </a:lnTo>
                  <a:lnTo>
                    <a:pt x="655214" y="238517"/>
                  </a:lnTo>
                  <a:lnTo>
                    <a:pt x="638175" y="194159"/>
                  </a:lnTo>
                  <a:lnTo>
                    <a:pt x="615246" y="153018"/>
                  </a:lnTo>
                  <a:lnTo>
                    <a:pt x="586962" y="115628"/>
                  </a:lnTo>
                  <a:lnTo>
                    <a:pt x="553858" y="82524"/>
                  </a:lnTo>
                  <a:lnTo>
                    <a:pt x="516468" y="54241"/>
                  </a:lnTo>
                  <a:lnTo>
                    <a:pt x="475327" y="31312"/>
                  </a:lnTo>
                  <a:lnTo>
                    <a:pt x="430970" y="14272"/>
                  </a:lnTo>
                  <a:lnTo>
                    <a:pt x="383930" y="3657"/>
                  </a:lnTo>
                  <a:lnTo>
                    <a:pt x="334744" y="0"/>
                  </a:lnTo>
                  <a:close/>
                </a:path>
              </a:pathLst>
            </a:custGeom>
            <a:solidFill>
              <a:srgbClr val="E1E3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85787" y="5570220"/>
              <a:ext cx="669925" cy="1016635"/>
            </a:xfrm>
            <a:custGeom>
              <a:avLst/>
              <a:gdLst/>
              <a:ahLst/>
              <a:cxnLst/>
              <a:rect l="l" t="t" r="r" b="b"/>
              <a:pathLst>
                <a:path w="669925" h="1016634">
                  <a:moveTo>
                    <a:pt x="0" y="334746"/>
                  </a:moveTo>
                  <a:lnTo>
                    <a:pt x="3657" y="285558"/>
                  </a:lnTo>
                  <a:lnTo>
                    <a:pt x="14273" y="238517"/>
                  </a:lnTo>
                  <a:lnTo>
                    <a:pt x="31312" y="194159"/>
                  </a:lnTo>
                  <a:lnTo>
                    <a:pt x="54241" y="153018"/>
                  </a:lnTo>
                  <a:lnTo>
                    <a:pt x="82525" y="115628"/>
                  </a:lnTo>
                  <a:lnTo>
                    <a:pt x="115629" y="82524"/>
                  </a:lnTo>
                  <a:lnTo>
                    <a:pt x="153019" y="54241"/>
                  </a:lnTo>
                  <a:lnTo>
                    <a:pt x="194160" y="31312"/>
                  </a:lnTo>
                  <a:lnTo>
                    <a:pt x="238517" y="14272"/>
                  </a:lnTo>
                  <a:lnTo>
                    <a:pt x="285557" y="3657"/>
                  </a:lnTo>
                  <a:lnTo>
                    <a:pt x="334744" y="0"/>
                  </a:lnTo>
                  <a:lnTo>
                    <a:pt x="383930" y="3657"/>
                  </a:lnTo>
                  <a:lnTo>
                    <a:pt x="430970" y="14272"/>
                  </a:lnTo>
                  <a:lnTo>
                    <a:pt x="475327" y="31312"/>
                  </a:lnTo>
                  <a:lnTo>
                    <a:pt x="516468" y="54241"/>
                  </a:lnTo>
                  <a:lnTo>
                    <a:pt x="553858" y="82524"/>
                  </a:lnTo>
                  <a:lnTo>
                    <a:pt x="586962" y="115628"/>
                  </a:lnTo>
                  <a:lnTo>
                    <a:pt x="615246" y="153018"/>
                  </a:lnTo>
                  <a:lnTo>
                    <a:pt x="638175" y="194159"/>
                  </a:lnTo>
                  <a:lnTo>
                    <a:pt x="655214" y="238517"/>
                  </a:lnTo>
                  <a:lnTo>
                    <a:pt x="665830" y="285558"/>
                  </a:lnTo>
                  <a:lnTo>
                    <a:pt x="669488" y="334746"/>
                  </a:lnTo>
                  <a:lnTo>
                    <a:pt x="669488" y="681812"/>
                  </a:lnTo>
                  <a:lnTo>
                    <a:pt x="665830" y="730997"/>
                  </a:lnTo>
                  <a:lnTo>
                    <a:pt x="655214" y="778036"/>
                  </a:lnTo>
                  <a:lnTo>
                    <a:pt x="638175" y="822393"/>
                  </a:lnTo>
                  <a:lnTo>
                    <a:pt x="615246" y="863534"/>
                  </a:lnTo>
                  <a:lnTo>
                    <a:pt x="586962" y="900924"/>
                  </a:lnTo>
                  <a:lnTo>
                    <a:pt x="553858" y="934029"/>
                  </a:lnTo>
                  <a:lnTo>
                    <a:pt x="516468" y="962314"/>
                  </a:lnTo>
                  <a:lnTo>
                    <a:pt x="475327" y="985244"/>
                  </a:lnTo>
                  <a:lnTo>
                    <a:pt x="430970" y="1002284"/>
                  </a:lnTo>
                  <a:lnTo>
                    <a:pt x="383930" y="1012901"/>
                  </a:lnTo>
                  <a:lnTo>
                    <a:pt x="334744" y="1016558"/>
                  </a:lnTo>
                  <a:lnTo>
                    <a:pt x="285557" y="1012901"/>
                  </a:lnTo>
                  <a:lnTo>
                    <a:pt x="238517" y="1002284"/>
                  </a:lnTo>
                  <a:lnTo>
                    <a:pt x="194160" y="985244"/>
                  </a:lnTo>
                  <a:lnTo>
                    <a:pt x="153019" y="962314"/>
                  </a:lnTo>
                  <a:lnTo>
                    <a:pt x="115629" y="934029"/>
                  </a:lnTo>
                  <a:lnTo>
                    <a:pt x="82525" y="900924"/>
                  </a:lnTo>
                  <a:lnTo>
                    <a:pt x="54241" y="863534"/>
                  </a:lnTo>
                  <a:lnTo>
                    <a:pt x="31312" y="822393"/>
                  </a:lnTo>
                  <a:lnTo>
                    <a:pt x="14273" y="778036"/>
                  </a:lnTo>
                  <a:lnTo>
                    <a:pt x="3657" y="730997"/>
                  </a:lnTo>
                  <a:lnTo>
                    <a:pt x="0" y="681812"/>
                  </a:lnTo>
                  <a:lnTo>
                    <a:pt x="0" y="334746"/>
                  </a:lnTo>
                  <a:close/>
                </a:path>
              </a:pathLst>
            </a:custGeom>
            <a:ln w="7619">
              <a:solidFill>
                <a:srgbClr val="C7C9C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4979" y="5952883"/>
              <a:ext cx="250983" cy="250977"/>
            </a:xfrm>
            <a:prstGeom prst="rect">
              <a:avLst/>
            </a:prstGeom>
          </p:spPr>
        </p:pic>
      </p:grpSp>
      <p:grpSp>
        <p:nvGrpSpPr>
          <p:cNvPr id="20" name="object 20" descr=""/>
          <p:cNvGrpSpPr/>
          <p:nvPr/>
        </p:nvGrpSpPr>
        <p:grpSpPr>
          <a:xfrm>
            <a:off x="581977" y="6750253"/>
            <a:ext cx="677545" cy="1024255"/>
            <a:chOff x="581977" y="6750253"/>
            <a:chExt cx="677545" cy="1024255"/>
          </a:xfrm>
        </p:grpSpPr>
        <p:sp>
          <p:nvSpPr>
            <p:cNvPr id="21" name="object 21" descr=""/>
            <p:cNvSpPr/>
            <p:nvPr/>
          </p:nvSpPr>
          <p:spPr>
            <a:xfrm>
              <a:off x="585787" y="6754062"/>
              <a:ext cx="669925" cy="1016635"/>
            </a:xfrm>
            <a:custGeom>
              <a:avLst/>
              <a:gdLst/>
              <a:ahLst/>
              <a:cxnLst/>
              <a:rect l="l" t="t" r="r" b="b"/>
              <a:pathLst>
                <a:path w="669925" h="1016634">
                  <a:moveTo>
                    <a:pt x="334744" y="0"/>
                  </a:moveTo>
                  <a:lnTo>
                    <a:pt x="285557" y="3657"/>
                  </a:lnTo>
                  <a:lnTo>
                    <a:pt x="238517" y="14272"/>
                  </a:lnTo>
                  <a:lnTo>
                    <a:pt x="194160" y="31312"/>
                  </a:lnTo>
                  <a:lnTo>
                    <a:pt x="153019" y="54241"/>
                  </a:lnTo>
                  <a:lnTo>
                    <a:pt x="115629" y="82524"/>
                  </a:lnTo>
                  <a:lnTo>
                    <a:pt x="82525" y="115628"/>
                  </a:lnTo>
                  <a:lnTo>
                    <a:pt x="54241" y="153018"/>
                  </a:lnTo>
                  <a:lnTo>
                    <a:pt x="31312" y="194159"/>
                  </a:lnTo>
                  <a:lnTo>
                    <a:pt x="14273" y="238517"/>
                  </a:lnTo>
                  <a:lnTo>
                    <a:pt x="3657" y="285558"/>
                  </a:lnTo>
                  <a:lnTo>
                    <a:pt x="0" y="334746"/>
                  </a:lnTo>
                  <a:lnTo>
                    <a:pt x="0" y="681812"/>
                  </a:lnTo>
                  <a:lnTo>
                    <a:pt x="3657" y="730997"/>
                  </a:lnTo>
                  <a:lnTo>
                    <a:pt x="14273" y="778036"/>
                  </a:lnTo>
                  <a:lnTo>
                    <a:pt x="31312" y="822393"/>
                  </a:lnTo>
                  <a:lnTo>
                    <a:pt x="54241" y="863534"/>
                  </a:lnTo>
                  <a:lnTo>
                    <a:pt x="82525" y="900924"/>
                  </a:lnTo>
                  <a:lnTo>
                    <a:pt x="115629" y="934029"/>
                  </a:lnTo>
                  <a:lnTo>
                    <a:pt x="153019" y="962314"/>
                  </a:lnTo>
                  <a:lnTo>
                    <a:pt x="194160" y="985244"/>
                  </a:lnTo>
                  <a:lnTo>
                    <a:pt x="238517" y="1002284"/>
                  </a:lnTo>
                  <a:lnTo>
                    <a:pt x="285557" y="1012901"/>
                  </a:lnTo>
                  <a:lnTo>
                    <a:pt x="334744" y="1016558"/>
                  </a:lnTo>
                  <a:lnTo>
                    <a:pt x="383930" y="1012901"/>
                  </a:lnTo>
                  <a:lnTo>
                    <a:pt x="430970" y="1002284"/>
                  </a:lnTo>
                  <a:lnTo>
                    <a:pt x="475327" y="985244"/>
                  </a:lnTo>
                  <a:lnTo>
                    <a:pt x="516468" y="962314"/>
                  </a:lnTo>
                  <a:lnTo>
                    <a:pt x="553858" y="934029"/>
                  </a:lnTo>
                  <a:lnTo>
                    <a:pt x="586962" y="900924"/>
                  </a:lnTo>
                  <a:lnTo>
                    <a:pt x="615246" y="863534"/>
                  </a:lnTo>
                  <a:lnTo>
                    <a:pt x="638175" y="822393"/>
                  </a:lnTo>
                  <a:lnTo>
                    <a:pt x="655214" y="778036"/>
                  </a:lnTo>
                  <a:lnTo>
                    <a:pt x="665830" y="730997"/>
                  </a:lnTo>
                  <a:lnTo>
                    <a:pt x="669488" y="681812"/>
                  </a:lnTo>
                  <a:lnTo>
                    <a:pt x="669488" y="334746"/>
                  </a:lnTo>
                  <a:lnTo>
                    <a:pt x="665830" y="285558"/>
                  </a:lnTo>
                  <a:lnTo>
                    <a:pt x="655214" y="238517"/>
                  </a:lnTo>
                  <a:lnTo>
                    <a:pt x="638175" y="194159"/>
                  </a:lnTo>
                  <a:lnTo>
                    <a:pt x="615246" y="153018"/>
                  </a:lnTo>
                  <a:lnTo>
                    <a:pt x="586962" y="115628"/>
                  </a:lnTo>
                  <a:lnTo>
                    <a:pt x="553858" y="82524"/>
                  </a:lnTo>
                  <a:lnTo>
                    <a:pt x="516468" y="54241"/>
                  </a:lnTo>
                  <a:lnTo>
                    <a:pt x="475327" y="31312"/>
                  </a:lnTo>
                  <a:lnTo>
                    <a:pt x="430970" y="14272"/>
                  </a:lnTo>
                  <a:lnTo>
                    <a:pt x="383930" y="3657"/>
                  </a:lnTo>
                  <a:lnTo>
                    <a:pt x="334744" y="0"/>
                  </a:lnTo>
                  <a:close/>
                </a:path>
              </a:pathLst>
            </a:custGeom>
            <a:solidFill>
              <a:srgbClr val="E1E3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85787" y="6754062"/>
              <a:ext cx="669925" cy="1016635"/>
            </a:xfrm>
            <a:custGeom>
              <a:avLst/>
              <a:gdLst/>
              <a:ahLst/>
              <a:cxnLst/>
              <a:rect l="l" t="t" r="r" b="b"/>
              <a:pathLst>
                <a:path w="669925" h="1016634">
                  <a:moveTo>
                    <a:pt x="0" y="334746"/>
                  </a:moveTo>
                  <a:lnTo>
                    <a:pt x="3657" y="285558"/>
                  </a:lnTo>
                  <a:lnTo>
                    <a:pt x="14273" y="238517"/>
                  </a:lnTo>
                  <a:lnTo>
                    <a:pt x="31312" y="194159"/>
                  </a:lnTo>
                  <a:lnTo>
                    <a:pt x="54241" y="153018"/>
                  </a:lnTo>
                  <a:lnTo>
                    <a:pt x="82525" y="115628"/>
                  </a:lnTo>
                  <a:lnTo>
                    <a:pt x="115629" y="82524"/>
                  </a:lnTo>
                  <a:lnTo>
                    <a:pt x="153019" y="54241"/>
                  </a:lnTo>
                  <a:lnTo>
                    <a:pt x="194160" y="31312"/>
                  </a:lnTo>
                  <a:lnTo>
                    <a:pt x="238517" y="14272"/>
                  </a:lnTo>
                  <a:lnTo>
                    <a:pt x="285557" y="3657"/>
                  </a:lnTo>
                  <a:lnTo>
                    <a:pt x="334744" y="0"/>
                  </a:lnTo>
                  <a:lnTo>
                    <a:pt x="383930" y="3657"/>
                  </a:lnTo>
                  <a:lnTo>
                    <a:pt x="430970" y="14272"/>
                  </a:lnTo>
                  <a:lnTo>
                    <a:pt x="475327" y="31312"/>
                  </a:lnTo>
                  <a:lnTo>
                    <a:pt x="516468" y="54241"/>
                  </a:lnTo>
                  <a:lnTo>
                    <a:pt x="553858" y="82524"/>
                  </a:lnTo>
                  <a:lnTo>
                    <a:pt x="586962" y="115628"/>
                  </a:lnTo>
                  <a:lnTo>
                    <a:pt x="615246" y="153018"/>
                  </a:lnTo>
                  <a:lnTo>
                    <a:pt x="638175" y="194159"/>
                  </a:lnTo>
                  <a:lnTo>
                    <a:pt x="655214" y="238517"/>
                  </a:lnTo>
                  <a:lnTo>
                    <a:pt x="665830" y="285558"/>
                  </a:lnTo>
                  <a:lnTo>
                    <a:pt x="669488" y="334746"/>
                  </a:lnTo>
                  <a:lnTo>
                    <a:pt x="669488" y="681812"/>
                  </a:lnTo>
                  <a:lnTo>
                    <a:pt x="665830" y="730997"/>
                  </a:lnTo>
                  <a:lnTo>
                    <a:pt x="655214" y="778036"/>
                  </a:lnTo>
                  <a:lnTo>
                    <a:pt x="638175" y="822393"/>
                  </a:lnTo>
                  <a:lnTo>
                    <a:pt x="615246" y="863534"/>
                  </a:lnTo>
                  <a:lnTo>
                    <a:pt x="586962" y="900924"/>
                  </a:lnTo>
                  <a:lnTo>
                    <a:pt x="553858" y="934029"/>
                  </a:lnTo>
                  <a:lnTo>
                    <a:pt x="516468" y="962314"/>
                  </a:lnTo>
                  <a:lnTo>
                    <a:pt x="475327" y="985244"/>
                  </a:lnTo>
                  <a:lnTo>
                    <a:pt x="430970" y="1002284"/>
                  </a:lnTo>
                  <a:lnTo>
                    <a:pt x="383930" y="1012901"/>
                  </a:lnTo>
                  <a:lnTo>
                    <a:pt x="334744" y="1016558"/>
                  </a:lnTo>
                  <a:lnTo>
                    <a:pt x="285557" y="1012901"/>
                  </a:lnTo>
                  <a:lnTo>
                    <a:pt x="238517" y="1002284"/>
                  </a:lnTo>
                  <a:lnTo>
                    <a:pt x="194160" y="985244"/>
                  </a:lnTo>
                  <a:lnTo>
                    <a:pt x="153019" y="962314"/>
                  </a:lnTo>
                  <a:lnTo>
                    <a:pt x="115629" y="934029"/>
                  </a:lnTo>
                  <a:lnTo>
                    <a:pt x="82525" y="900924"/>
                  </a:lnTo>
                  <a:lnTo>
                    <a:pt x="54241" y="863534"/>
                  </a:lnTo>
                  <a:lnTo>
                    <a:pt x="31312" y="822393"/>
                  </a:lnTo>
                  <a:lnTo>
                    <a:pt x="14273" y="778036"/>
                  </a:lnTo>
                  <a:lnTo>
                    <a:pt x="3657" y="730997"/>
                  </a:lnTo>
                  <a:lnTo>
                    <a:pt x="0" y="681812"/>
                  </a:lnTo>
                  <a:lnTo>
                    <a:pt x="0" y="334746"/>
                  </a:lnTo>
                  <a:close/>
                </a:path>
              </a:pathLst>
            </a:custGeom>
            <a:ln w="7619">
              <a:solidFill>
                <a:srgbClr val="C7C9C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4979" y="7136726"/>
              <a:ext cx="250983" cy="250977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573087" y="1615084"/>
            <a:ext cx="11185525" cy="5996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Based</a:t>
            </a:r>
            <a:r>
              <a:rPr dirty="0" sz="130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on</a:t>
            </a:r>
            <a:r>
              <a:rPr dirty="0" sz="130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our</a:t>
            </a:r>
            <a:r>
              <a:rPr dirty="0" sz="130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findings,</a:t>
            </a:r>
            <a:r>
              <a:rPr dirty="0" sz="130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we</a:t>
            </a:r>
            <a:r>
              <a:rPr dirty="0" sz="130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propose</a:t>
            </a:r>
            <a:r>
              <a:rPr dirty="0" sz="130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a</a:t>
            </a:r>
            <a:r>
              <a:rPr dirty="0" sz="130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52576B"/>
                </a:solidFill>
                <a:latin typeface="Arial"/>
                <a:cs typeface="Arial"/>
              </a:rPr>
              <a:t>multi-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faceted</a:t>
            </a:r>
            <a:r>
              <a:rPr dirty="0" sz="130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approach</a:t>
            </a:r>
            <a:r>
              <a:rPr dirty="0" sz="130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to</a:t>
            </a:r>
            <a:r>
              <a:rPr dirty="0" sz="130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optimize</a:t>
            </a:r>
            <a:r>
              <a:rPr dirty="0" sz="130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retail</a:t>
            </a:r>
            <a:r>
              <a:rPr dirty="0" sz="130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strategy,</a:t>
            </a:r>
            <a:r>
              <a:rPr dirty="0" sz="130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boost</a:t>
            </a:r>
            <a:r>
              <a:rPr dirty="0" sz="130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revenue,</a:t>
            </a:r>
            <a:r>
              <a:rPr dirty="0" sz="130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and</a:t>
            </a:r>
            <a:r>
              <a:rPr dirty="0" sz="130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enhance</a:t>
            </a:r>
            <a:r>
              <a:rPr dirty="0" sz="130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customer</a:t>
            </a:r>
            <a:r>
              <a:rPr dirty="0" sz="130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52576B"/>
                </a:solidFill>
                <a:latin typeface="Arial"/>
                <a:cs typeface="Arial"/>
              </a:rPr>
              <a:t>loyalty.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5"/>
              </a:spcBef>
            </a:pPr>
            <a:endParaRPr sz="1300">
              <a:latin typeface="Arial"/>
              <a:cs typeface="Arial"/>
            </a:endParaRPr>
          </a:p>
          <a:p>
            <a:pPr marL="848994">
              <a:lnSpc>
                <a:spcPct val="100000"/>
              </a:lnSpc>
              <a:spcBef>
                <a:spcPts val="5"/>
              </a:spcBef>
            </a:pPr>
            <a:r>
              <a:rPr dirty="0" sz="1950">
                <a:solidFill>
                  <a:srgbClr val="52576B"/>
                </a:solidFill>
                <a:latin typeface="Arial"/>
                <a:cs typeface="Arial"/>
              </a:rPr>
              <a:t>Boost</a:t>
            </a:r>
            <a:r>
              <a:rPr dirty="0" sz="195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52576B"/>
                </a:solidFill>
                <a:latin typeface="Arial"/>
                <a:cs typeface="Arial"/>
              </a:rPr>
              <a:t>Subscription</a:t>
            </a:r>
            <a:r>
              <a:rPr dirty="0" sz="195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52576B"/>
                </a:solidFill>
                <a:latin typeface="Arial"/>
                <a:cs typeface="Arial"/>
              </a:rPr>
              <a:t>Value</a:t>
            </a:r>
            <a:endParaRPr sz="1950">
              <a:latin typeface="Arial"/>
              <a:cs typeface="Arial"/>
            </a:endParaRPr>
          </a:p>
          <a:p>
            <a:pPr marL="848994">
              <a:lnSpc>
                <a:spcPct val="100000"/>
              </a:lnSpc>
              <a:spcBef>
                <a:spcPts val="1365"/>
              </a:spcBef>
            </a:pPr>
            <a:r>
              <a:rPr dirty="0" sz="1300" spc="-20">
                <a:solidFill>
                  <a:srgbClr val="52576B"/>
                </a:solidFill>
                <a:latin typeface="Arial"/>
                <a:cs typeface="Arial"/>
              </a:rPr>
              <a:t>Re-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evaluate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and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promote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52576B"/>
                </a:solidFill>
                <a:latin typeface="Arial"/>
                <a:cs typeface="Arial"/>
              </a:rPr>
              <a:t>exclusive</a:t>
            </a:r>
            <a:r>
              <a:rPr dirty="0" sz="130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benefits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for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subscribers</a:t>
            </a:r>
            <a:r>
              <a:rPr dirty="0" sz="130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to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drive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higher</a:t>
            </a:r>
            <a:r>
              <a:rPr dirty="0" sz="130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52576B"/>
                </a:solidFill>
                <a:latin typeface="Arial"/>
                <a:cs typeface="Arial"/>
              </a:rPr>
              <a:t>engagement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and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basket</a:t>
            </a:r>
            <a:r>
              <a:rPr dirty="0" sz="130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sizes,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not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just</a:t>
            </a:r>
            <a:r>
              <a:rPr dirty="0" sz="130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visit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52576B"/>
                </a:solidFill>
                <a:latin typeface="Arial"/>
                <a:cs typeface="Arial"/>
              </a:rPr>
              <a:t>frequency.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300">
              <a:latin typeface="Arial"/>
              <a:cs typeface="Arial"/>
            </a:endParaRPr>
          </a:p>
          <a:p>
            <a:pPr marL="848994">
              <a:lnSpc>
                <a:spcPct val="100000"/>
              </a:lnSpc>
            </a:pPr>
            <a:r>
              <a:rPr dirty="0" sz="1950">
                <a:solidFill>
                  <a:srgbClr val="52576B"/>
                </a:solidFill>
                <a:latin typeface="Arial"/>
                <a:cs typeface="Arial"/>
              </a:rPr>
              <a:t>Enhance</a:t>
            </a:r>
            <a:r>
              <a:rPr dirty="0" sz="1950" spc="-8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52576B"/>
                </a:solidFill>
                <a:latin typeface="Arial"/>
                <a:cs typeface="Arial"/>
              </a:rPr>
              <a:t>Loyalty</a:t>
            </a:r>
            <a:r>
              <a:rPr dirty="0" sz="1950" spc="-8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52576B"/>
                </a:solidFill>
                <a:latin typeface="Arial"/>
                <a:cs typeface="Arial"/>
              </a:rPr>
              <a:t>Programs</a:t>
            </a:r>
            <a:endParaRPr sz="1950">
              <a:latin typeface="Arial"/>
              <a:cs typeface="Arial"/>
            </a:endParaRPr>
          </a:p>
          <a:p>
            <a:pPr marL="848994">
              <a:lnSpc>
                <a:spcPct val="100000"/>
              </a:lnSpc>
              <a:spcBef>
                <a:spcPts val="1365"/>
              </a:spcBef>
            </a:pPr>
            <a:r>
              <a:rPr dirty="0" sz="1300" spc="-10">
                <a:solidFill>
                  <a:srgbClr val="52576B"/>
                </a:solidFill>
                <a:latin typeface="Arial"/>
                <a:cs typeface="Arial"/>
              </a:rPr>
              <a:t>Implement</a:t>
            </a:r>
            <a:r>
              <a:rPr dirty="0" sz="130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robust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rewards</a:t>
            </a:r>
            <a:r>
              <a:rPr dirty="0" sz="130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programs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to</a:t>
            </a:r>
            <a:r>
              <a:rPr dirty="0" sz="130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52576B"/>
                </a:solidFill>
                <a:latin typeface="Arial"/>
                <a:cs typeface="Arial"/>
              </a:rPr>
              <a:t>acknowledge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and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further</a:t>
            </a:r>
            <a:r>
              <a:rPr dirty="0" sz="130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incentivize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repeat</a:t>
            </a:r>
            <a:r>
              <a:rPr dirty="0" sz="130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buyers,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52576B"/>
                </a:solidFill>
                <a:latin typeface="Arial"/>
                <a:cs typeface="Arial"/>
              </a:rPr>
              <a:t>solidifying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their</a:t>
            </a:r>
            <a:r>
              <a:rPr dirty="0" sz="130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transition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into</a:t>
            </a:r>
            <a:r>
              <a:rPr dirty="0" sz="130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the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"Loyal"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52576B"/>
                </a:solidFill>
                <a:latin typeface="Arial"/>
                <a:cs typeface="Arial"/>
              </a:rPr>
              <a:t>segment.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300">
              <a:latin typeface="Arial"/>
              <a:cs typeface="Arial"/>
            </a:endParaRPr>
          </a:p>
          <a:p>
            <a:pPr marL="848994">
              <a:lnSpc>
                <a:spcPct val="100000"/>
              </a:lnSpc>
            </a:pPr>
            <a:r>
              <a:rPr dirty="0" sz="1950">
                <a:solidFill>
                  <a:srgbClr val="52576B"/>
                </a:solidFill>
                <a:latin typeface="Arial"/>
                <a:cs typeface="Arial"/>
              </a:rPr>
              <a:t>Review</a:t>
            </a:r>
            <a:r>
              <a:rPr dirty="0" sz="1950" spc="-10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52576B"/>
                </a:solidFill>
                <a:latin typeface="Arial"/>
                <a:cs typeface="Arial"/>
              </a:rPr>
              <a:t>Discount</a:t>
            </a:r>
            <a:r>
              <a:rPr dirty="0" sz="1950" spc="-10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52576B"/>
                </a:solidFill>
                <a:latin typeface="Arial"/>
                <a:cs typeface="Arial"/>
              </a:rPr>
              <a:t>Policy</a:t>
            </a:r>
            <a:endParaRPr sz="1950">
              <a:latin typeface="Arial"/>
              <a:cs typeface="Arial"/>
            </a:endParaRPr>
          </a:p>
          <a:p>
            <a:pPr marL="848994">
              <a:lnSpc>
                <a:spcPct val="100000"/>
              </a:lnSpc>
              <a:spcBef>
                <a:spcPts val="1365"/>
              </a:spcBef>
            </a:pP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Analyze</a:t>
            </a:r>
            <a:r>
              <a:rPr dirty="0" sz="1300" spc="-5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the</a:t>
            </a:r>
            <a:r>
              <a:rPr dirty="0" sz="130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impact</a:t>
            </a:r>
            <a:r>
              <a:rPr dirty="0" sz="130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of</a:t>
            </a:r>
            <a:r>
              <a:rPr dirty="0" sz="130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current</a:t>
            </a:r>
            <a:r>
              <a:rPr dirty="0" sz="130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discount</a:t>
            </a:r>
            <a:r>
              <a:rPr dirty="0" sz="130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strategies</a:t>
            </a:r>
            <a:r>
              <a:rPr dirty="0" sz="130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to</a:t>
            </a:r>
            <a:r>
              <a:rPr dirty="0" sz="130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ensure</a:t>
            </a:r>
            <a:r>
              <a:rPr dirty="0" sz="130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they</a:t>
            </a:r>
            <a:r>
              <a:rPr dirty="0" sz="130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effectively</a:t>
            </a:r>
            <a:r>
              <a:rPr dirty="0" sz="130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boost</a:t>
            </a:r>
            <a:r>
              <a:rPr dirty="0" sz="130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sales</a:t>
            </a:r>
            <a:r>
              <a:rPr dirty="0" sz="130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without</a:t>
            </a:r>
            <a:r>
              <a:rPr dirty="0" sz="130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excessively</a:t>
            </a:r>
            <a:r>
              <a:rPr dirty="0" sz="130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eroding</a:t>
            </a:r>
            <a:r>
              <a:rPr dirty="0" sz="130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profit</a:t>
            </a:r>
            <a:r>
              <a:rPr dirty="0" sz="1300" spc="-5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52576B"/>
                </a:solidFill>
                <a:latin typeface="Arial"/>
                <a:cs typeface="Arial"/>
              </a:rPr>
              <a:t>margins.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300">
              <a:latin typeface="Arial"/>
              <a:cs typeface="Arial"/>
            </a:endParaRPr>
          </a:p>
          <a:p>
            <a:pPr marL="848994">
              <a:lnSpc>
                <a:spcPct val="100000"/>
              </a:lnSpc>
              <a:spcBef>
                <a:spcPts val="5"/>
              </a:spcBef>
            </a:pPr>
            <a:r>
              <a:rPr dirty="0" sz="1950">
                <a:solidFill>
                  <a:srgbClr val="52576B"/>
                </a:solidFill>
                <a:latin typeface="Arial"/>
                <a:cs typeface="Arial"/>
              </a:rPr>
              <a:t>Strategic</a:t>
            </a:r>
            <a:r>
              <a:rPr dirty="0" sz="1950" spc="-6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52576B"/>
                </a:solidFill>
                <a:latin typeface="Arial"/>
                <a:cs typeface="Arial"/>
              </a:rPr>
              <a:t>Product</a:t>
            </a:r>
            <a:r>
              <a:rPr dirty="0" sz="1950" spc="-6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52576B"/>
                </a:solidFill>
                <a:latin typeface="Arial"/>
                <a:cs typeface="Arial"/>
              </a:rPr>
              <a:t>Positioning</a:t>
            </a:r>
            <a:endParaRPr sz="1950">
              <a:latin typeface="Arial"/>
              <a:cs typeface="Arial"/>
            </a:endParaRPr>
          </a:p>
          <a:p>
            <a:pPr marL="848994">
              <a:lnSpc>
                <a:spcPct val="100000"/>
              </a:lnSpc>
              <a:spcBef>
                <a:spcPts val="1365"/>
              </a:spcBef>
            </a:pP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Feature</a:t>
            </a:r>
            <a:r>
              <a:rPr dirty="0" sz="130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52576B"/>
                </a:solidFill>
                <a:latin typeface="Arial"/>
                <a:cs typeface="Arial"/>
              </a:rPr>
              <a:t>top-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rated</a:t>
            </a:r>
            <a:r>
              <a:rPr dirty="0" sz="130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and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52576B"/>
                </a:solidFill>
                <a:latin typeface="Arial"/>
                <a:cs typeface="Arial"/>
              </a:rPr>
              <a:t>best-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selling</a:t>
            </a:r>
            <a:r>
              <a:rPr dirty="0" sz="130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"Hero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Products"</a:t>
            </a:r>
            <a:r>
              <a:rPr dirty="0" sz="130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52576B"/>
                </a:solidFill>
                <a:latin typeface="Arial"/>
                <a:cs typeface="Arial"/>
              </a:rPr>
              <a:t>prominently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in</a:t>
            </a:r>
            <a:r>
              <a:rPr dirty="0" sz="130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52576B"/>
                </a:solidFill>
                <a:latin typeface="Arial"/>
                <a:cs typeface="Arial"/>
              </a:rPr>
              <a:t>marketing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campaigns</a:t>
            </a:r>
            <a:r>
              <a:rPr dirty="0" sz="130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to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leverage</a:t>
            </a:r>
            <a:r>
              <a:rPr dirty="0" sz="130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social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proof</a:t>
            </a:r>
            <a:r>
              <a:rPr dirty="0" sz="130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and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attract</a:t>
            </a:r>
            <a:r>
              <a:rPr dirty="0" sz="1300" spc="-4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new</a:t>
            </a:r>
            <a:r>
              <a:rPr dirty="0" sz="1300" spc="-4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52576B"/>
                </a:solidFill>
                <a:latin typeface="Arial"/>
                <a:cs typeface="Arial"/>
              </a:rPr>
              <a:t>customers.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300">
              <a:latin typeface="Arial"/>
              <a:cs typeface="Arial"/>
            </a:endParaRPr>
          </a:p>
          <a:p>
            <a:pPr marL="848994">
              <a:lnSpc>
                <a:spcPct val="100000"/>
              </a:lnSpc>
            </a:pPr>
            <a:r>
              <a:rPr dirty="0" sz="1950">
                <a:solidFill>
                  <a:srgbClr val="52576B"/>
                </a:solidFill>
                <a:latin typeface="Arial"/>
                <a:cs typeface="Arial"/>
              </a:rPr>
              <a:t>Refine</a:t>
            </a:r>
            <a:r>
              <a:rPr dirty="0" sz="1950" spc="-8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52576B"/>
                </a:solidFill>
                <a:latin typeface="Arial"/>
                <a:cs typeface="Arial"/>
              </a:rPr>
              <a:t>Targeted</a:t>
            </a:r>
            <a:r>
              <a:rPr dirty="0" sz="1950" spc="-8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52576B"/>
                </a:solidFill>
                <a:latin typeface="Arial"/>
                <a:cs typeface="Arial"/>
              </a:rPr>
              <a:t>Marketing</a:t>
            </a:r>
            <a:endParaRPr sz="1950">
              <a:latin typeface="Arial"/>
              <a:cs typeface="Arial"/>
            </a:endParaRPr>
          </a:p>
          <a:p>
            <a:pPr marL="848994">
              <a:lnSpc>
                <a:spcPct val="100000"/>
              </a:lnSpc>
              <a:spcBef>
                <a:spcPts val="1365"/>
              </a:spcBef>
            </a:pP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Direct</a:t>
            </a:r>
            <a:r>
              <a:rPr dirty="0" sz="130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52576B"/>
                </a:solidFill>
                <a:latin typeface="Arial"/>
                <a:cs typeface="Arial"/>
              </a:rPr>
              <a:t>marketing</a:t>
            </a:r>
            <a:r>
              <a:rPr dirty="0" sz="130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efforts</a:t>
            </a:r>
            <a:r>
              <a:rPr dirty="0" sz="130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more</a:t>
            </a:r>
            <a:r>
              <a:rPr dirty="0" sz="130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intensely</a:t>
            </a:r>
            <a:r>
              <a:rPr dirty="0" sz="130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towards</a:t>
            </a:r>
            <a:r>
              <a:rPr dirty="0" sz="130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52576B"/>
                </a:solidFill>
                <a:latin typeface="Arial"/>
                <a:cs typeface="Arial"/>
              </a:rPr>
              <a:t>high-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revenue</a:t>
            </a:r>
            <a:r>
              <a:rPr dirty="0" sz="130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age</a:t>
            </a:r>
            <a:r>
              <a:rPr dirty="0" sz="130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groups</a:t>
            </a:r>
            <a:r>
              <a:rPr dirty="0" sz="130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and</a:t>
            </a:r>
            <a:r>
              <a:rPr dirty="0" sz="130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52576B"/>
                </a:solidFill>
                <a:latin typeface="Arial"/>
                <a:cs typeface="Arial"/>
              </a:rPr>
              <a:t>express-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shipping</a:t>
            </a:r>
            <a:r>
              <a:rPr dirty="0" sz="130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users</a:t>
            </a:r>
            <a:r>
              <a:rPr dirty="0" sz="130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for</a:t>
            </a:r>
            <a:r>
              <a:rPr dirty="0" sz="130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52576B"/>
                </a:solidFill>
                <a:latin typeface="Arial"/>
                <a:cs typeface="Arial"/>
              </a:rPr>
              <a:t>maximized</a:t>
            </a:r>
            <a:r>
              <a:rPr dirty="0" sz="130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ROI</a:t>
            </a:r>
            <a:r>
              <a:rPr dirty="0" sz="1300" spc="-30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2576B"/>
                </a:solidFill>
                <a:latin typeface="Arial"/>
                <a:cs typeface="Arial"/>
              </a:rPr>
              <a:t>and</a:t>
            </a:r>
            <a:r>
              <a:rPr dirty="0" sz="1300" spc="-35">
                <a:solidFill>
                  <a:srgbClr val="52576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52576B"/>
                </a:solidFill>
                <a:latin typeface="Arial"/>
                <a:cs typeface="Arial"/>
              </a:rPr>
              <a:t>conversion.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2025-12-29T00:27:50Z</dcterms:created>
  <dcterms:modified xsi:type="dcterms:W3CDTF">2025-12-29T00:27:50Z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2025-12-29T00:00:00Z</vt:filetime>
  </property>
  <property fmtid="{D5CDD505-2E9C-101B-9397-08002B2CF9AE}" pid="3" name="LastSaved">
    <vt:filetime>2025-12-29T00:00:00Z</vt:filetime>
  </property>
  <property fmtid="{D5CDD505-2E9C-101B-9397-08002B2CF9AE}" pid="4" name="Producer">
    <vt:lpwstr>3-Heights(TM) PDF Security Shell 4.8.25.2 (http://www.pdf-tools.com)</vt:lpwstr>
  </property>
</Properties>
</file>